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2" r:id="rId4"/>
    <p:sldId id="278" r:id="rId5"/>
    <p:sldId id="277" r:id="rId6"/>
    <p:sldId id="279" r:id="rId7"/>
    <p:sldId id="280" r:id="rId8"/>
    <p:sldId id="275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8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6" Type="http://schemas.openxmlformats.org/officeDocument/2006/relationships/tags" Target="../tags/tag79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78.xml"/><Relationship Id="rId2" Type="http://schemas.openxmlformats.org/officeDocument/2006/relationships/image" Target="../media/image2.png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Midterm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[7, 2026]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Jiang Yijun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09975" y="2900045"/>
            <a:ext cx="8423910" cy="48069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  <a:t>Department of Electrical and Computer Engineering</a:t>
            </a:r>
            <a:endParaRPr lang="en-US" altLang="zh-CN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3393440" y="699135"/>
            <a:ext cx="838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3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Blood Glucose Prediction Model Applicable to Continuous Glucose Monitoring Systems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65735" y="6921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Research Progress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5735" y="617855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内容占位符 2"/>
          <p:cNvSpPr>
            <a:spLocks noGrp="1"/>
          </p:cNvSpPr>
          <p:nvPr/>
        </p:nvSpPr>
        <p:spPr>
          <a:xfrm>
            <a:off x="356870" y="1022350"/>
            <a:ext cx="10841990" cy="54025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Dataset Construction</a:t>
            </a:r>
            <a:endParaRPr lang="zh-CN" altLang="en-US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lvl="1"/>
            <a:r>
              <a:rPr 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Build dataset contain: </a:t>
            </a:r>
            <a:endParaRPr lang="en-US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lvl="1" algn="ctr"/>
            <a:r>
              <a:rPr 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Health → Prediabetes → T2D → T1D | 174 subjects, 117,570 observations</a:t>
            </a:r>
            <a:endParaRPr lang="en-US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  <a:p>
            <a:pPr lvl="1" algn="l"/>
            <a:r>
              <a:rPr 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All the data is </a:t>
            </a:r>
            <a:r>
              <a:rPr lang="en-US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CGM-Only</a:t>
            </a:r>
            <a:r>
              <a:rPr lang="en-US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,without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multimodal data</a:t>
            </a:r>
            <a:endParaRPr lang="en-US" altLang="zh-CN" sz="18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j-lt"/>
            </a:endParaRPr>
          </a:p>
          <a:p>
            <a:pPr marL="285750" indent="-28575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Standardization Pipeline</a:t>
            </a:r>
            <a:endParaRPr lang="zh-CN" altLang="en-US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1. Field alignment: {id, time, gl, age, bmi}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2. Unit conversion: All to mg/dL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3. Linear resampling: Strict 5-min intervals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4. Missing data: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• ≤15 min: Cubic spline interpolation</a:t>
            </a:r>
            <a:endParaRPr lang="en-US" sz="180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• &gt;15 min: Sequence segmentation (exclude &lt;6h)</a:t>
            </a:r>
            <a:endParaRPr lang="en-US" sz="1800" b="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hkutl"/>
          <p:cNvPicPr>
            <a:picLocks noChangeAspect="1"/>
          </p:cNvPicPr>
          <p:nvPr/>
        </p:nvPicPr>
        <p:blipFill>
          <a:blip r:embed="rId4"/>
          <a:srcRect r="87359"/>
          <a:stretch>
            <a:fillRect/>
          </a:stretch>
        </p:blipFill>
        <p:spPr>
          <a:xfrm>
            <a:off x="11388090" y="83185"/>
            <a:ext cx="504190" cy="5346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65735" y="6921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Research Progress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5735" y="617855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内容占位符 2"/>
          <p:cNvSpPr>
            <a:spLocks noGrp="1"/>
          </p:cNvSpPr>
          <p:nvPr/>
        </p:nvSpPr>
        <p:spPr>
          <a:xfrm>
            <a:off x="356870" y="1022350"/>
            <a:ext cx="10841990" cy="54025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Data Filtering</a:t>
            </a:r>
            <a:endParaRPr lang="zh-CN" altLang="en-US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lvl="1"/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The original data were filtered using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Kalman filtering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,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S-G filtering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, and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Butterworth filtering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 respectively. 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lvl="1"/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The performance of each method was compared, and based on comprehensive evaluation of NRR, SNR, PPR, and Phase Lag metrics, the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S-G filtering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 results were ultimately selected as the final input.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lvl="1"/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marL="285750" indent="-28575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285750" indent="-28575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algn="just">
              <a:lnSpc>
                <a:spcPct val="130000"/>
              </a:lnSpc>
              <a:buClrTx/>
              <a:buSzTx/>
              <a:buFont typeface="Arial" panose="020B0604020202020204" pitchFamily="34" charset="0"/>
            </a:pP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hkutl"/>
          <p:cNvPicPr>
            <a:picLocks noChangeAspect="1"/>
          </p:cNvPicPr>
          <p:nvPr/>
        </p:nvPicPr>
        <p:blipFill>
          <a:blip r:embed="rId4"/>
          <a:srcRect r="87359"/>
          <a:stretch>
            <a:fillRect/>
          </a:stretch>
        </p:blipFill>
        <p:spPr>
          <a:xfrm>
            <a:off x="11388090" y="83185"/>
            <a:ext cx="504190" cy="53467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3508692" y="3559810"/>
          <a:ext cx="5174615" cy="0"/>
        </p:xfrm>
        <a:graphic>
          <a:graphicData uri="http://schemas.openxmlformats.org/drawingml/2006/table">
            <a:tbl>
              <a:tblPr/>
              <a:tblGrid>
                <a:gridCol w="1075055"/>
                <a:gridCol w="1345565"/>
                <a:gridCol w="1387475"/>
                <a:gridCol w="1366520"/>
              </a:tblGrid>
              <a:tr h="0">
                <a:tc>
                  <a:txBody>
                    <a:bodyPr/>
                    <a:p>
                      <a:pPr marL="0" indent="0" algn="ctr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Index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Kalman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S-G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Butterworth</a:t>
                      </a:r>
                      <a:endParaRPr lang="en-US" altLang="zh-CN" sz="1200" b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NRR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-6.6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3.7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14.0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6.2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18.8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7.1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SNR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7.9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2.0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9.4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2.2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9.9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2.3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PPR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1.009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0.005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0.987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0.007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0.972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0.008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Phase Lag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1.7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2.4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 fontAlgn="ctr"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664710" y="4551045"/>
            <a:ext cx="28613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comparison of filtering results</a:t>
            </a:r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65735" y="6921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Research Progress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5735" y="617855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内容占位符 2"/>
          <p:cNvSpPr>
            <a:spLocks noGrp="1"/>
          </p:cNvSpPr>
          <p:nvPr/>
        </p:nvSpPr>
        <p:spPr>
          <a:xfrm>
            <a:off x="356870" y="1022350"/>
            <a:ext cx="10841990" cy="54025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Model Building and Comparison</a:t>
            </a:r>
            <a:endParaRPr lang="en-US" altLang="zh-CN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lvl="1" algn="l">
              <a:lnSpc>
                <a:spcPct val="90000"/>
              </a:lnSpc>
              <a:buClrTx/>
              <a:buSzTx/>
              <a:buNone/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Select models such as ARIMA, Linear Regression, KNN, Random Forest, CNN, RNN, LSTM, and Transformer to predict blood glucose levels and compare results. 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  <a:p>
            <a:pPr lvl="1" algn="l">
              <a:lnSpc>
                <a:spcPct val="90000"/>
              </a:lnSpc>
              <a:buClrTx/>
              <a:buSzTx/>
              <a:buNone/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Using evaluation metrics including MAE, RMSE, MAPE, RMSPE, and CEG.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Transformer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 was chosen as the foundation for subsequent few-sample transfer learning studies.</a:t>
            </a:r>
            <a:endParaRPr lang="en-US" altLang="zh-CN" sz="1800" b="0" dirty="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  <a:sym typeface="+mn-ea"/>
            </a:endParaRPr>
          </a:p>
          <a:p>
            <a:pPr lvl="1" algn="l">
              <a:lnSpc>
                <a:spcPct val="90000"/>
              </a:lnSpc>
              <a:buClrTx/>
              <a:buSzTx/>
              <a:buNone/>
            </a:pP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hkutl"/>
          <p:cNvPicPr>
            <a:picLocks noChangeAspect="1"/>
          </p:cNvPicPr>
          <p:nvPr/>
        </p:nvPicPr>
        <p:blipFill>
          <a:blip r:embed="rId4"/>
          <a:srcRect r="87359"/>
          <a:stretch>
            <a:fillRect/>
          </a:stretch>
        </p:blipFill>
        <p:spPr>
          <a:xfrm>
            <a:off x="11388090" y="83185"/>
            <a:ext cx="504190" cy="53467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/>
        </p:nvGraphicFramePr>
        <p:xfrm>
          <a:off x="399415" y="3105150"/>
          <a:ext cx="5402580" cy="0"/>
        </p:xfrm>
        <a:graphic>
          <a:graphicData uri="http://schemas.openxmlformats.org/drawingml/2006/table">
            <a:tbl>
              <a:tblPr/>
              <a:tblGrid>
                <a:gridCol w="899160"/>
                <a:gridCol w="670560"/>
                <a:gridCol w="720090"/>
                <a:gridCol w="915670"/>
                <a:gridCol w="1000125"/>
                <a:gridCol w="1196975"/>
              </a:tblGrid>
              <a:tr h="0">
                <a:tc>
                  <a:txBody>
                    <a:bodyPr/>
                    <a:p>
                      <a:pPr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endParaRPr sz="1200" b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MAE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(mg/dL)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RMSE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(mg/dL)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MAPE(%)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RMSPE(%)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 b="1">
                          <a:latin typeface="Times New Roman" panose="02020603050405020304"/>
                          <a:ea typeface="Times New Roman" panose="02020603050405020304"/>
                        </a:rPr>
                        <a:t>CEG(A+B)(%)</a:t>
                      </a:r>
                      <a:endParaRPr lang="en-US" altLang="zh-CN" sz="12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ARIMA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5.7965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8.9621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4.4696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6.9105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99.8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Linear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5.2298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8.5292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4.3827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6.8298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99.8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KNN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11.3252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15.6312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9.9544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13.6284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93.4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Random Forest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6.6398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10.2797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5.5753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8.2342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99.2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0.6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XGBoost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8.2151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12.3310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6.9834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10.1447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98.1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1.6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CNN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5.4077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8.6982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4.5519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7.0817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99.8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RNN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7.4727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11.0343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6.3253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8.9341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99.0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0.9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LSTM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5.0236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8.1853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4.2701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6.7352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99.8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0.2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Transformer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6.5029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9.1394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5.7825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7.9993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 fontAlgn="ctr">
                        <a:lnSpc>
                          <a:spcPct val="110000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99.6</a:t>
                      </a:r>
                      <a:r>
                        <a:rPr lang="en-US" altLang="zh-CN" sz="1200"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0.3</a:t>
                      </a:r>
                      <a:endParaRPr lang="en-US" altLang="zh-CN" sz="12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910" y="2964498"/>
            <a:ext cx="5457190" cy="306895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7026910" y="6062980"/>
            <a:ext cx="4534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Prediction results of different models on subject 306</a:t>
            </a:r>
            <a:endParaRPr lang="en-US" altLang="zh-CN" sz="1400"/>
          </a:p>
        </p:txBody>
      </p:sp>
      <p:sp>
        <p:nvSpPr>
          <p:cNvPr id="8" name="文本框 7"/>
          <p:cNvSpPr txBox="1"/>
          <p:nvPr/>
        </p:nvSpPr>
        <p:spPr>
          <a:xfrm>
            <a:off x="1172210" y="6062980"/>
            <a:ext cx="4079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comparison of  different models’ prediction</a:t>
            </a:r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65735" y="6921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Research Progress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5735" y="617855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内容占位符 2"/>
          <p:cNvSpPr>
            <a:spLocks noGrp="1"/>
          </p:cNvSpPr>
          <p:nvPr/>
        </p:nvSpPr>
        <p:spPr>
          <a:xfrm>
            <a:off x="356870" y="624840"/>
            <a:ext cx="10841990" cy="54025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Transfer Learning</a:t>
            </a: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lvl="1" algn="l">
              <a:lnSpc>
                <a:spcPct val="90000"/>
              </a:lnSpc>
              <a:buClrTx/>
              <a:buSzTx/>
              <a:buNone/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We employed a transfer strategy utilizing a frozen encoder, fine-tuning the regression head solely with 30% of new users' data (approximately 2–3 days) and achieving an average RMSE reduction of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20.35%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  <a:sym typeface="+mn-ea"/>
              </a:rPr>
              <a:t> across ten independent test sets.</a:t>
            </a: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Meta Learning</a:t>
            </a:r>
            <a:endParaRPr lang="zh-CN" altLang="en-US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lvl="1"/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For extremely sparse scenarios with only a few hours of data, the First-Order Model-Agnostic meta-learning (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FOMAML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) algorithm is introduced to optimize initialization parameters. 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lvl="1"/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With fewer than 100 samples, the meta-transfer strategy reduces the mean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MAE by 25.67%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 compared to traditional transfer learning; in extreme cases with merely 30 samples (approximately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2.5 hours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 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of data), the MAE reduction reaches as high as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31.58%</a:t>
            </a:r>
            <a:r>
              <a:rPr lang="en-US" altLang="zh-CN" sz="1800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.</a:t>
            </a: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hkutl"/>
          <p:cNvPicPr>
            <a:picLocks noChangeAspect="1"/>
          </p:cNvPicPr>
          <p:nvPr/>
        </p:nvPicPr>
        <p:blipFill>
          <a:blip r:embed="rId4"/>
          <a:srcRect r="87359"/>
          <a:stretch>
            <a:fillRect/>
          </a:stretch>
        </p:blipFill>
        <p:spPr>
          <a:xfrm>
            <a:off x="11388090" y="83185"/>
            <a:ext cx="504190" cy="534670"/>
          </a:xfrm>
          <a:prstGeom prst="rect">
            <a:avLst/>
          </a:prstGeom>
        </p:spPr>
      </p:pic>
      <p:pic>
        <p:nvPicPr>
          <p:cNvPr id="28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0" y="4113530"/>
            <a:ext cx="6666230" cy="2744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428480" y="5008880"/>
            <a:ext cx="17710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The prediction of meta transfer and basic transfer on subject 124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165735" y="6921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3200" b="1" dirty="0">
                <a:solidFill>
                  <a:schemeClr val="accent1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Thesis Progress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65735" y="617855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内容占位符 2"/>
          <p:cNvSpPr>
            <a:spLocks noGrp="1"/>
          </p:cNvSpPr>
          <p:nvPr/>
        </p:nvSpPr>
        <p:spPr>
          <a:xfrm>
            <a:off x="356870" y="624840"/>
            <a:ext cx="10841990" cy="540258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Experiments (Done)</a:t>
            </a: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Thesis writing </a:t>
            </a: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(Done)</a:t>
            </a: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  <a:sym typeface="+mn-ea"/>
              </a:rPr>
              <a:t>Defense Preparing (In Progress)</a:t>
            </a:r>
            <a:endParaRPr lang="en-US" altLang="zh-CN" sz="2400" b="1" dirty="0">
              <a:solidFill>
                <a:srgbClr val="275829"/>
              </a:solidFill>
              <a:latin typeface="Calibri, MiSans" pitchFamily="34" charset="0"/>
              <a:ea typeface="Calibri, MiSans" pitchFamily="34" charset="-122"/>
              <a:cs typeface="Calibri, MiSans" pitchFamily="34" charset="-120"/>
              <a:sym typeface="+mn-ea"/>
            </a:endParaRPr>
          </a:p>
          <a:p>
            <a:pPr marL="342900" indent="-342900" algn="just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altLang="zh-CN" sz="1800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6" name="文本框 25"/>
          <p:cNvSpPr txBox="1"/>
          <p:nvPr>
            <p:custDataLst>
              <p:tags r:id="rId1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1388090" y="83185"/>
            <a:ext cx="504190" cy="534670"/>
          </a:xfrm>
          <a:prstGeom prst="rect">
            <a:avLst/>
          </a:prstGeom>
        </p:spPr>
      </p:pic>
      <p:pic>
        <p:nvPicPr>
          <p:cNvPr id="4" name="图片 3" descr="正确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6810" y="703580"/>
            <a:ext cx="439420" cy="439420"/>
          </a:xfrm>
          <a:prstGeom prst="rect">
            <a:avLst/>
          </a:prstGeom>
        </p:spPr>
      </p:pic>
      <p:pic>
        <p:nvPicPr>
          <p:cNvPr id="5" name="图片 4" descr="正确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1600" y="1530350"/>
            <a:ext cx="439420" cy="4394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2091690"/>
            <a:ext cx="70377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Thank you 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5400" b="1">
                <a:solidFill>
                  <a:srgbClr val="275829"/>
                </a:solidFill>
                <a:cs typeface="+mj-lt"/>
              </a:rPr>
              <a:t>for listening!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Dissertation defense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[7, 2026]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Jiang Yijun</a:t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7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7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78.xml><?xml version="1.0" encoding="utf-8"?>
<p:tagLst xmlns:p="http://schemas.openxmlformats.org/presentationml/2006/main">
  <p:tag name="KSO_DOCER_RESOURCE_TRACE_INFO" val="{&quot;id&quot;:&quot;21544220&quot;,&quot;origin&quot;:0,&quot;type&quot;:&quot;icons&quot;,&quot;user&quot;:&quot;1336936528&quot;}"/>
</p:tagLst>
</file>

<file path=ppt/tags/tag79.xml><?xml version="1.0" encoding="utf-8"?>
<p:tagLst xmlns:p="http://schemas.openxmlformats.org/presentationml/2006/main">
  <p:tag name="KSO_DOCER_RESOURCE_TRACE_INFO" val="{&quot;id&quot;:&quot;21544220&quot;,&quot;origin&quot;:0,&quot;type&quot;:&quot;icons&quot;,&quot;user&quot;:&quot;1336936528&quot;}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resource_record_key" val="{&quot;10&quot;:[21544220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2910</Words>
  <Application>WPS 演示</Application>
  <PresentationFormat>宽屏</PresentationFormat>
  <Paragraphs>242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48" baseType="lpstr">
      <vt:lpstr>Arial</vt:lpstr>
      <vt:lpstr>宋体</vt:lpstr>
      <vt:lpstr>Wingdings</vt:lpstr>
      <vt:lpstr>Futura Md BT</vt:lpstr>
      <vt:lpstr>Segoe Print</vt:lpstr>
      <vt:lpstr>Wingdings</vt:lpstr>
      <vt:lpstr>Calibri</vt:lpstr>
      <vt:lpstr>OPPOSans H</vt:lpstr>
      <vt:lpstr>OPPOSans M</vt:lpstr>
      <vt:lpstr>思源宋体 CN</vt:lpstr>
      <vt:lpstr>微软雅黑</vt:lpstr>
      <vt:lpstr>Cambria Math</vt:lpstr>
      <vt:lpstr>思源黑体 CN Regular</vt:lpstr>
      <vt:lpstr>Times New Roman</vt:lpstr>
      <vt:lpstr>OPPO Sans</vt:lpstr>
      <vt:lpstr>Calibri</vt:lpstr>
      <vt:lpstr>Arial Unicode MS</vt:lpstr>
      <vt:lpstr>KSOFCE3C27C1</vt:lpstr>
      <vt:lpstr>黑体</vt:lpstr>
      <vt:lpstr>KSOF28C8607A</vt:lpstr>
      <vt:lpstr>Roboto</vt:lpstr>
      <vt:lpstr>OPPO Sans</vt:lpstr>
      <vt:lpstr>OPPOSans H</vt:lpstr>
      <vt:lpstr>OPPOSans M</vt:lpstr>
      <vt:lpstr>思源宋体 CN</vt:lpstr>
      <vt:lpstr>思源黑体 CN Regular</vt:lpstr>
      <vt:lpstr>KSOF6DA6CABE</vt:lpstr>
      <vt:lpstr>Arial</vt:lpstr>
      <vt:lpstr>Arial</vt:lpstr>
      <vt:lpstr>Liorah BT Std Regular</vt:lpstr>
      <vt:lpstr>H2O</vt:lpstr>
      <vt:lpstr>仓耳玄三M W05</vt:lpstr>
      <vt:lpstr>兰米宋体</vt:lpstr>
      <vt:lpstr>兰米黑体</vt:lpstr>
      <vt:lpstr>Saturday Sans Regular</vt:lpstr>
      <vt:lpstr>Calibri, MiSans</vt:lpstr>
      <vt:lpstr>MiSans</vt:lpstr>
      <vt:lpstr>Calibri, MiSans</vt:lpstr>
      <vt:lpstr>Calibri, MiSans</vt:lpstr>
      <vt:lpstr>Times New Roman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Jungle</cp:lastModifiedBy>
  <cp:revision>169</cp:revision>
  <dcterms:created xsi:type="dcterms:W3CDTF">2019-06-19T02:08:00Z</dcterms:created>
  <dcterms:modified xsi:type="dcterms:W3CDTF">2026-06-30T15:05:47Z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B590A592B7384ECCA6B81E5BC72D632A_13</vt:lpwstr>
  </property>
</Properties>
</file>