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</p:sldIdLst>
  <p:sldSz cx="16256000" cy="9144000"/>
  <p:notesSz cx="9144000" cy="1625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58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36" Type="http://schemas.openxmlformats.org/officeDocument/2006/relationships/viewProps" Target="viewProps.xml"/><Relationship Id="rId35" Type="http://schemas.openxmlformats.org/officeDocument/2006/relationships/presProps" Target="presProps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jpeg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8.png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9.png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0.png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7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9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0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5.png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8.png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7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9.png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0.png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0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7112000" y="2794000"/>
            <a:ext cx="8382000" cy="2032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36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Blood Glucose Prediction Model Applicable to Continuous Glucose Monitoring Systems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7112000" y="5080000"/>
            <a:ext cx="1524000" cy="50800"/>
          </a:xfrm>
          <a:prstGeom prst="rect">
            <a:avLst/>
          </a:prstGeom>
          <a:solidFill>
            <a:srgbClr val="61BB45"/>
          </a:solidFill>
        </p:spPr>
      </p:sp>
      <p:sp>
        <p:nvSpPr>
          <p:cNvPr id="7" name="Text 3"/>
          <p:cNvSpPr/>
          <p:nvPr/>
        </p:nvSpPr>
        <p:spPr>
          <a:xfrm>
            <a:off x="7112000" y="5334000"/>
            <a:ext cx="8382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Master Thesis Defense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7112000" y="6096000"/>
            <a:ext cx="8382000" cy="2413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Author:</a:t>
            </a: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Jiang Yijun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Supervisor:</a:t>
            </a: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Prof. Shiming Zhang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Department of Electrical and Computer Engineering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University of Hong Kong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July 2026</a:t>
            </a:r>
            <a:endParaRPr lang="en-US" sz="1600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>
            <a:alphaModFix amt="20000"/>
          </a:blip>
          <a:srcRect l="8072" r="82261" b="25125"/>
          <a:stretch>
            <a:fillRect/>
          </a:stretch>
        </p:blipFill>
        <p:spPr>
          <a:xfrm>
            <a:off x="0" y="635"/>
            <a:ext cx="6118225" cy="9143365"/>
          </a:xfrm>
          <a:prstGeom prst="rect">
            <a:avLst/>
          </a:prstGeom>
        </p:spPr>
      </p:pic>
      <p:pic>
        <p:nvPicPr>
          <p:cNvPr id="12" name="图片 11" descr="hkutl"/>
          <p:cNvPicPr>
            <a:picLocks noChangeAspect="1"/>
          </p:cNvPicPr>
          <p:nvPr/>
        </p:nvPicPr>
        <p:blipFill>
          <a:blip r:embed="rId2"/>
          <a:srcRect r="87359"/>
          <a:stretch>
            <a:fillRect/>
          </a:stretch>
        </p:blipFill>
        <p:spPr>
          <a:xfrm>
            <a:off x="5242560" y="3040380"/>
            <a:ext cx="1586230" cy="16814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7366000" y="1016000"/>
            <a:ext cx="381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Outline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366000" y="1778000"/>
            <a:ext cx="1270000" cy="50800"/>
          </a:xfrm>
          <a:prstGeom prst="rect">
            <a:avLst/>
          </a:prstGeom>
          <a:solidFill>
            <a:srgbClr val="61BB45"/>
          </a:solidFill>
        </p:spPr>
      </p:sp>
      <p:sp>
        <p:nvSpPr>
          <p:cNvPr id="6" name="Shape 3"/>
          <p:cNvSpPr/>
          <p:nvPr/>
        </p:nvSpPr>
        <p:spPr>
          <a:xfrm>
            <a:off x="7366000" y="2286000"/>
            <a:ext cx="635000" cy="635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7" name="Text 4"/>
          <p:cNvSpPr/>
          <p:nvPr/>
        </p:nvSpPr>
        <p:spPr>
          <a:xfrm>
            <a:off x="7366000" y="2286000"/>
            <a:ext cx="635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55000" y="2286000"/>
            <a:ext cx="635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Background &amp; Literature Review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66000" y="3302000"/>
            <a:ext cx="635000" cy="635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10" name="Text 7"/>
          <p:cNvSpPr/>
          <p:nvPr/>
        </p:nvSpPr>
        <p:spPr>
          <a:xfrm>
            <a:off x="7366000" y="3302000"/>
            <a:ext cx="635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55000" y="3302000"/>
            <a:ext cx="635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Data Processing &amp; Filtering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366000" y="4318000"/>
            <a:ext cx="635000" cy="635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13" name="Text 10"/>
          <p:cNvSpPr/>
          <p:nvPr/>
        </p:nvSpPr>
        <p:spPr>
          <a:xfrm>
            <a:off x="7366000" y="4318000"/>
            <a:ext cx="635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255000" y="4318000"/>
            <a:ext cx="635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General Prediction Models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366000" y="5334000"/>
            <a:ext cx="635000" cy="635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16" name="Text 13"/>
          <p:cNvSpPr/>
          <p:nvPr/>
        </p:nvSpPr>
        <p:spPr>
          <a:xfrm>
            <a:off x="7366000" y="5334000"/>
            <a:ext cx="635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255000" y="5334000"/>
            <a:ext cx="635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Transfer Learning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366000" y="6350000"/>
            <a:ext cx="635000" cy="635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19" name="Text 16"/>
          <p:cNvSpPr/>
          <p:nvPr/>
        </p:nvSpPr>
        <p:spPr>
          <a:xfrm>
            <a:off x="7366000" y="6350000"/>
            <a:ext cx="635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255000" y="6350000"/>
            <a:ext cx="635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Meta-Transfer Learning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366000" y="7366000"/>
            <a:ext cx="635000" cy="635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22" name="Text 19"/>
          <p:cNvSpPr/>
          <p:nvPr/>
        </p:nvSpPr>
        <p:spPr>
          <a:xfrm>
            <a:off x="7366000" y="7366000"/>
            <a:ext cx="635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6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255000" y="7366000"/>
            <a:ext cx="635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Conclusion</a:t>
            </a:r>
            <a:endParaRPr lang="en-US" sz="1600" dirty="0"/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1">
            <a:alphaModFix amt="20000"/>
          </a:blip>
          <a:srcRect l="8072" r="82261" b="25125"/>
          <a:stretch>
            <a:fillRect/>
          </a:stretch>
        </p:blipFill>
        <p:spPr>
          <a:xfrm>
            <a:off x="0" y="635"/>
            <a:ext cx="6118225" cy="91433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7366000" y="2540000"/>
            <a:ext cx="1270000" cy="1270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5" name="Text 2"/>
          <p:cNvSpPr/>
          <p:nvPr/>
        </p:nvSpPr>
        <p:spPr>
          <a:xfrm>
            <a:off x="7366000" y="2540000"/>
            <a:ext cx="1270000" cy="1270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66000" y="4064000"/>
            <a:ext cx="889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Background &amp; Literature Review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66000" y="4953000"/>
            <a:ext cx="1524000" cy="50800"/>
          </a:xfrm>
          <a:prstGeom prst="rect">
            <a:avLst/>
          </a:prstGeom>
          <a:solidFill>
            <a:srgbClr val="61BB45"/>
          </a:solidFill>
        </p:spPr>
      </p:sp>
      <p:sp>
        <p:nvSpPr>
          <p:cNvPr id="8" name="Text 5"/>
          <p:cNvSpPr/>
          <p:nvPr/>
        </p:nvSpPr>
        <p:spPr>
          <a:xfrm>
            <a:off x="7366000" y="5207000"/>
            <a:ext cx="8128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20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Research motivation, CGM technology, data challenges, and literature evolution</a:t>
            </a:r>
            <a:endParaRPr lang="en-US" sz="1600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>
            <a:alphaModFix amt="20000"/>
          </a:blip>
          <a:srcRect l="8072" r="82261" b="25125"/>
          <a:stretch>
            <a:fillRect/>
          </a:stretch>
        </p:blipFill>
        <p:spPr>
          <a:xfrm>
            <a:off x="0" y="635"/>
            <a:ext cx="6118225" cy="91433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71120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id="22" name="组合 21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5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7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9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11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13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15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Introduction: A CGM Prediction System for Wearable Devices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pic>
        <p:nvPicPr>
          <p:cNvPr id="20" name="Image 2" descr="https://kimi-img.moonshot.cn/pub/slides/okc/wc2nv4gztwxge/mnt/agents/output/cgm_thesis/images/cgm_watch.png"/>
          <p:cNvPicPr>
            <a:picLocks noChangeAspect="1"/>
          </p:cNvPicPr>
          <p:nvPr/>
        </p:nvPicPr>
        <p:blipFill>
          <a:blip r:embed="rId4"/>
          <a:srcRect l="21875" r="21875"/>
          <a:stretch>
            <a:fillRect/>
          </a:stretch>
        </p:blipFill>
        <p:spPr>
          <a:xfrm>
            <a:off x="609600" y="2476500"/>
            <a:ext cx="6096000" cy="6096000"/>
          </a:xfrm>
          <a:prstGeom prst="roundRect">
            <a:avLst>
              <a:gd name="adj" fmla="val 8000"/>
            </a:avLst>
          </a:prstGeom>
        </p:spPr>
      </p:pic>
      <p:sp>
        <p:nvSpPr>
          <p:cNvPr id="21" name="Text 16"/>
          <p:cNvSpPr/>
          <p:nvPr/>
        </p:nvSpPr>
        <p:spPr>
          <a:xfrm>
            <a:off x="7112000" y="2476500"/>
            <a:ext cx="8382000" cy="609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If CGM becomes widely adopted (e.g., Apple Watch), what prediction system should we design?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600"/>
              </a:spcBef>
            </a:pP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Key requirements for an ideal CGM prediction system: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Real-time 30-minute ahead prediction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Accurate under rapid glucose changes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Personalized to individual physiology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Data-efficient: works with minimal calibration data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Privacy-preserving: local computation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600"/>
              </a:spcBef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This thesis proposes a complete pipeline using only CGM sequences + age + BMI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No meal logs, no insulin doses, no exercise records needed.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71120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Diabetes Background and CGM Technology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Text 16"/>
          <p:cNvSpPr/>
          <p:nvPr/>
        </p:nvSpPr>
        <p:spPr>
          <a:xfrm>
            <a:off x="609600" y="2476500"/>
            <a:ext cx="7112000" cy="609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Diabetes mellitus</a:t>
            </a: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is a chronic metabolic disease with increasing global prevalence, causing serious complications in heart, kidneys, eyes, and nerves.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Traditional measurement limitations: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Fasting glucose, postprandial glucose: single-point only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HbA1c: average over months, misses fluctuations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SMBG: frequent but inconvenient, especially at night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CGM advantages: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5-minute high-frequency sampling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Detailed time series: post-meal, exercise, overnight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New metric: Time in Range (TIR) 3.9-10.0 mmol/L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30-min prediction window for proactive intervention</a:t>
            </a:r>
            <a:endParaRPr lang="en-US" sz="1600" dirty="0"/>
          </a:p>
        </p:txBody>
      </p:sp>
      <p:pic>
        <p:nvPicPr>
          <p:cNvPr id="21" name="Image 2" descr="https://kimi-img.moonshot.cn/pub/slides/okc/wc2nv4gztwxge/mnt/agents/output/cgm_thesis/images/fig1_1_cgm_device.jpeg"/>
          <p:cNvPicPr>
            <a:picLocks noChangeAspect="1"/>
          </p:cNvPicPr>
          <p:nvPr/>
        </p:nvPicPr>
        <p:blipFill>
          <a:blip r:embed="rId4"/>
          <a:srcRect t="-23563" b="-23563"/>
          <a:stretch>
            <a:fillRect/>
          </a:stretch>
        </p:blipFill>
        <p:spPr>
          <a:xfrm>
            <a:off x="8128000" y="2476500"/>
            <a:ext cx="7366000" cy="60960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128000" y="8636000"/>
            <a:ext cx="8128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1.1 CGM devices provide continuous glucose monitoring through subcutaneous sensors</a:t>
            </a:r>
            <a:endParaRPr lang="en-US" sz="1600" dirty="0"/>
          </a:p>
        </p:txBody>
      </p:sp>
      <p:grpSp>
        <p:nvGrpSpPr>
          <p:cNvPr id="23" name="组合 22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4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5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6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27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8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29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0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1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2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3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4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71120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Challenges in CGM Data and Prediction Task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Shape 16"/>
          <p:cNvSpPr/>
          <p:nvPr/>
        </p:nvSpPr>
        <p:spPr>
          <a:xfrm>
            <a:off x="1524000" y="2667000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381000" y="0"/>
                </a:moveTo>
                <a:cubicBezTo>
                  <a:pt x="591280" y="0"/>
                  <a:pt x="762000" y="170720"/>
                  <a:pt x="762000" y="381000"/>
                </a:cubicBezTo>
                <a:cubicBezTo>
                  <a:pt x="762000" y="591280"/>
                  <a:pt x="591280" y="762000"/>
                  <a:pt x="381000" y="762000"/>
                </a:cubicBezTo>
                <a:cubicBezTo>
                  <a:pt x="170720" y="762000"/>
                  <a:pt x="0" y="591280"/>
                  <a:pt x="0" y="381000"/>
                </a:cubicBezTo>
                <a:cubicBezTo>
                  <a:pt x="0" y="170720"/>
                  <a:pt x="170720" y="0"/>
                  <a:pt x="381000" y="0"/>
                </a:cubicBezTo>
                <a:close/>
                <a:moveTo>
                  <a:pt x="345281" y="178594"/>
                </a:moveTo>
                <a:lnTo>
                  <a:pt x="345281" y="381000"/>
                </a:lnTo>
                <a:cubicBezTo>
                  <a:pt x="345281" y="392906"/>
                  <a:pt x="351234" y="404068"/>
                  <a:pt x="361206" y="410766"/>
                </a:cubicBezTo>
                <a:lnTo>
                  <a:pt x="504081" y="506016"/>
                </a:lnTo>
                <a:cubicBezTo>
                  <a:pt x="520452" y="517029"/>
                  <a:pt x="542627" y="512564"/>
                  <a:pt x="553641" y="496044"/>
                </a:cubicBezTo>
                <a:cubicBezTo>
                  <a:pt x="564654" y="479524"/>
                  <a:pt x="560189" y="457498"/>
                  <a:pt x="543669" y="446484"/>
                </a:cubicBezTo>
                <a:lnTo>
                  <a:pt x="416719" y="361950"/>
                </a:lnTo>
                <a:lnTo>
                  <a:pt x="416719" y="178594"/>
                </a:lnTo>
                <a:cubicBezTo>
                  <a:pt x="416719" y="158800"/>
                  <a:pt x="400794" y="142875"/>
                  <a:pt x="381000" y="142875"/>
                </a:cubicBezTo>
                <a:cubicBezTo>
                  <a:pt x="361206" y="142875"/>
                  <a:pt x="345281" y="158800"/>
                  <a:pt x="345281" y="178594"/>
                </a:cubicBezTo>
                <a:close/>
              </a:path>
            </a:pathLst>
          </a:custGeom>
          <a:solidFill>
            <a:srgbClr val="275829"/>
          </a:solidFill>
        </p:spPr>
      </p:sp>
      <p:sp>
        <p:nvSpPr>
          <p:cNvPr id="21" name="Text 17"/>
          <p:cNvSpPr/>
          <p:nvPr/>
        </p:nvSpPr>
        <p:spPr>
          <a:xfrm>
            <a:off x="609600" y="3619500"/>
            <a:ext cx="4064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Physiological Delay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09600" y="4191000"/>
            <a:ext cx="4064000" cy="254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5-10 minute lag between interstitial fluid glucose and blood glucose. During rapid changes (post-meal, post-exercise), dynamic error becomes significant.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6096000" y="2667000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95250" y="142875"/>
                </a:moveTo>
                <a:cubicBezTo>
                  <a:pt x="95250" y="116532"/>
                  <a:pt x="116532" y="95250"/>
                  <a:pt x="142875" y="95250"/>
                </a:cubicBezTo>
                <a:lnTo>
                  <a:pt x="381000" y="95250"/>
                </a:lnTo>
                <a:cubicBezTo>
                  <a:pt x="407343" y="95250"/>
                  <a:pt x="428625" y="116532"/>
                  <a:pt x="428625" y="142875"/>
                </a:cubicBezTo>
                <a:lnTo>
                  <a:pt x="428625" y="571500"/>
                </a:lnTo>
                <a:lnTo>
                  <a:pt x="571500" y="571500"/>
                </a:lnTo>
                <a:lnTo>
                  <a:pt x="571500" y="381000"/>
                </a:lnTo>
                <a:cubicBezTo>
                  <a:pt x="571500" y="354657"/>
                  <a:pt x="592782" y="333375"/>
                  <a:pt x="619125" y="333375"/>
                </a:cubicBezTo>
                <a:lnTo>
                  <a:pt x="714375" y="333375"/>
                </a:lnTo>
                <a:cubicBezTo>
                  <a:pt x="740718" y="333375"/>
                  <a:pt x="762000" y="354657"/>
                  <a:pt x="762000" y="381000"/>
                </a:cubicBezTo>
                <a:cubicBezTo>
                  <a:pt x="762000" y="407343"/>
                  <a:pt x="740718" y="428625"/>
                  <a:pt x="714375" y="428625"/>
                </a:cubicBezTo>
                <a:lnTo>
                  <a:pt x="666750" y="428625"/>
                </a:lnTo>
                <a:lnTo>
                  <a:pt x="666750" y="619125"/>
                </a:lnTo>
                <a:cubicBezTo>
                  <a:pt x="666750" y="645468"/>
                  <a:pt x="645468" y="666750"/>
                  <a:pt x="619125" y="666750"/>
                </a:cubicBezTo>
                <a:lnTo>
                  <a:pt x="381000" y="666750"/>
                </a:lnTo>
                <a:cubicBezTo>
                  <a:pt x="354657" y="666750"/>
                  <a:pt x="333375" y="645468"/>
                  <a:pt x="333375" y="619125"/>
                </a:cubicBezTo>
                <a:lnTo>
                  <a:pt x="333375" y="190500"/>
                </a:lnTo>
                <a:lnTo>
                  <a:pt x="190500" y="190500"/>
                </a:lnTo>
                <a:lnTo>
                  <a:pt x="190500" y="381000"/>
                </a:lnTo>
                <a:cubicBezTo>
                  <a:pt x="190500" y="407343"/>
                  <a:pt x="169218" y="428625"/>
                  <a:pt x="142875" y="428625"/>
                </a:cubicBezTo>
                <a:lnTo>
                  <a:pt x="47625" y="428625"/>
                </a:lnTo>
                <a:cubicBezTo>
                  <a:pt x="21282" y="428625"/>
                  <a:pt x="0" y="407343"/>
                  <a:pt x="0" y="381000"/>
                </a:cubicBezTo>
                <a:cubicBezTo>
                  <a:pt x="0" y="354657"/>
                  <a:pt x="21282" y="333375"/>
                  <a:pt x="47625" y="333375"/>
                </a:cubicBezTo>
                <a:lnTo>
                  <a:pt x="95250" y="333375"/>
                </a:lnTo>
                <a:lnTo>
                  <a:pt x="95250" y="142875"/>
                </a:lnTo>
                <a:close/>
              </a:path>
            </a:pathLst>
          </a:custGeom>
          <a:solidFill>
            <a:srgbClr val="275829"/>
          </a:solidFill>
        </p:spPr>
      </p:sp>
      <p:sp>
        <p:nvSpPr>
          <p:cNvPr id="24" name="Text 20"/>
          <p:cNvSpPr/>
          <p:nvPr/>
        </p:nvSpPr>
        <p:spPr>
          <a:xfrm>
            <a:off x="5181600" y="3619500"/>
            <a:ext cx="4064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Sensor Noise &amp; Drift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5181600" y="4191000"/>
            <a:ext cx="4064000" cy="254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Electrochemical sensor degradation, motion artifacts, pressure-induced sensor attenuation (PISA), and electronic system noise.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0668000" y="2667000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381000" y="0"/>
                </a:moveTo>
                <a:cubicBezTo>
                  <a:pt x="402878" y="0"/>
                  <a:pt x="422970" y="12055"/>
                  <a:pt x="433388" y="31254"/>
                </a:cubicBezTo>
                <a:lnTo>
                  <a:pt x="754856" y="626566"/>
                </a:lnTo>
                <a:cubicBezTo>
                  <a:pt x="764828" y="645021"/>
                  <a:pt x="764381" y="667345"/>
                  <a:pt x="753666" y="685354"/>
                </a:cubicBezTo>
                <a:cubicBezTo>
                  <a:pt x="742950" y="703362"/>
                  <a:pt x="723454" y="714375"/>
                  <a:pt x="702469" y="714375"/>
                </a:cubicBezTo>
                <a:lnTo>
                  <a:pt x="59531" y="714375"/>
                </a:lnTo>
                <a:cubicBezTo>
                  <a:pt x="38546" y="714375"/>
                  <a:pt x="19199" y="703362"/>
                  <a:pt x="8334" y="685354"/>
                </a:cubicBezTo>
                <a:cubicBezTo>
                  <a:pt x="-2530" y="667345"/>
                  <a:pt x="-2828" y="645021"/>
                  <a:pt x="7144" y="626566"/>
                </a:cubicBezTo>
                <a:lnTo>
                  <a:pt x="328613" y="31254"/>
                </a:lnTo>
                <a:cubicBezTo>
                  <a:pt x="339030" y="12055"/>
                  <a:pt x="359122" y="0"/>
                  <a:pt x="381000" y="0"/>
                </a:cubicBezTo>
                <a:close/>
                <a:moveTo>
                  <a:pt x="381000" y="250031"/>
                </a:moveTo>
                <a:cubicBezTo>
                  <a:pt x="361206" y="250031"/>
                  <a:pt x="345281" y="265956"/>
                  <a:pt x="345281" y="285750"/>
                </a:cubicBezTo>
                <a:lnTo>
                  <a:pt x="345281" y="452438"/>
                </a:lnTo>
                <a:cubicBezTo>
                  <a:pt x="345281" y="472232"/>
                  <a:pt x="361206" y="488156"/>
                  <a:pt x="381000" y="488156"/>
                </a:cubicBezTo>
                <a:cubicBezTo>
                  <a:pt x="400794" y="488156"/>
                  <a:pt x="416719" y="472232"/>
                  <a:pt x="416719" y="452438"/>
                </a:cubicBezTo>
                <a:lnTo>
                  <a:pt x="416719" y="285750"/>
                </a:lnTo>
                <a:cubicBezTo>
                  <a:pt x="416719" y="265956"/>
                  <a:pt x="400794" y="250031"/>
                  <a:pt x="381000" y="250031"/>
                </a:cubicBezTo>
                <a:close/>
                <a:moveTo>
                  <a:pt x="420737" y="571500"/>
                </a:moveTo>
                <a:cubicBezTo>
                  <a:pt x="421641" y="556750"/>
                  <a:pt x="414285" y="542717"/>
                  <a:pt x="401641" y="535068"/>
                </a:cubicBezTo>
                <a:cubicBezTo>
                  <a:pt x="388997" y="527420"/>
                  <a:pt x="373152" y="527420"/>
                  <a:pt x="360508" y="535068"/>
                </a:cubicBezTo>
                <a:cubicBezTo>
                  <a:pt x="347864" y="542717"/>
                  <a:pt x="340508" y="556750"/>
                  <a:pt x="341412" y="571500"/>
                </a:cubicBezTo>
                <a:cubicBezTo>
                  <a:pt x="340508" y="586250"/>
                  <a:pt x="347864" y="600283"/>
                  <a:pt x="360508" y="607932"/>
                </a:cubicBezTo>
                <a:cubicBezTo>
                  <a:pt x="373152" y="615580"/>
                  <a:pt x="388997" y="615580"/>
                  <a:pt x="401641" y="607932"/>
                </a:cubicBezTo>
                <a:cubicBezTo>
                  <a:pt x="414285" y="600283"/>
                  <a:pt x="421641" y="586250"/>
                  <a:pt x="420737" y="571500"/>
                </a:cubicBezTo>
                <a:close/>
              </a:path>
            </a:pathLst>
          </a:custGeom>
          <a:solidFill>
            <a:srgbClr val="275829"/>
          </a:solidFill>
        </p:spPr>
      </p:sp>
      <p:sp>
        <p:nvSpPr>
          <p:cNvPr id="27" name="Text 23"/>
          <p:cNvSpPr/>
          <p:nvPr/>
        </p:nvSpPr>
        <p:spPr>
          <a:xfrm>
            <a:off x="9753600" y="3619500"/>
            <a:ext cx="4064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Data Missing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9753600" y="4191000"/>
            <a:ext cx="4064000" cy="254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Sensor signal loss, calibration interruption, device drop, wireless transmission failure lead to gaps in time series.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09600" y="7112000"/>
            <a:ext cx="14986000" cy="1016000"/>
          </a:xfrm>
          <a:prstGeom prst="roundRect">
            <a:avLst>
              <a:gd name="adj" fmla="val 8000"/>
            </a:avLst>
          </a:prstGeom>
          <a:solidFill>
            <a:srgbClr val="275829">
              <a:alpha val="8235"/>
            </a:srgbClr>
          </a:solidFill>
        </p:spPr>
      </p:sp>
      <p:sp>
        <p:nvSpPr>
          <p:cNvPr id="30" name="Text 26"/>
          <p:cNvSpPr/>
          <p:nvPr/>
        </p:nvSpPr>
        <p:spPr>
          <a:xfrm>
            <a:off x="863600" y="7239000"/>
            <a:ext cx="14478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Prediction Target:</a:t>
            </a:r>
            <a:r>
              <a:rPr lang="en-US" sz="2200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30-60 minutes ahead | </a:t>
            </a: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Goal:</a:t>
            </a:r>
            <a:r>
              <a:rPr lang="en-US" sz="2200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From after-event monitoring to pre-event prediction</a:t>
            </a:r>
            <a:endParaRPr lang="en-US" sz="1600" dirty="0"/>
          </a:p>
        </p:txBody>
      </p:sp>
      <p:grpSp>
        <p:nvGrpSpPr>
          <p:cNvPr id="31" name="组合 30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32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33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4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5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6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7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8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9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0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1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2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71120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Literature Review: Model Evolution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Shape 16"/>
          <p:cNvSpPr/>
          <p:nvPr/>
        </p:nvSpPr>
        <p:spPr>
          <a:xfrm>
            <a:off x="609600" y="2540000"/>
            <a:ext cx="4699000" cy="3048000"/>
          </a:xfrm>
          <a:prstGeom prst="roundRect">
            <a:avLst>
              <a:gd name="adj" fmla="val 8000"/>
            </a:avLst>
          </a:prstGeom>
          <a:solidFill>
            <a:srgbClr val="275829">
              <a:alpha val="6275"/>
            </a:srgbClr>
          </a:solidFill>
        </p:spPr>
      </p:sp>
      <p:sp>
        <p:nvSpPr>
          <p:cNvPr id="21" name="Text 17"/>
          <p:cNvSpPr/>
          <p:nvPr/>
        </p:nvSpPr>
        <p:spPr>
          <a:xfrm>
            <a:off x="863600" y="26670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1. Physiological Models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863600" y="3238500"/>
            <a:ext cx="4191000" cy="215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Bergman Minimal Model, Hovorka Model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Differential equations describing glucose metabolism and insulin dynamics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Strong explainability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but complex parameter identification, difficult to scale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35600" y="3810000"/>
            <a:ext cx="635000" cy="0"/>
          </a:xfrm>
          <a:prstGeom prst="straightConnector1">
            <a:avLst/>
          </a:prstGeom>
          <a:noFill/>
          <a:ln w="25400">
            <a:solidFill>
              <a:srgbClr val="61BB45"/>
            </a:solidFill>
            <a:prstDash val="solid"/>
            <a:headEnd type="none"/>
            <a:tailEnd type="arrow"/>
          </a:ln>
        </p:spPr>
      </p:sp>
      <p:sp>
        <p:nvSpPr>
          <p:cNvPr id="24" name="Shape 20"/>
          <p:cNvSpPr/>
          <p:nvPr/>
        </p:nvSpPr>
        <p:spPr>
          <a:xfrm>
            <a:off x="6223000" y="2540000"/>
            <a:ext cx="4699000" cy="3048000"/>
          </a:xfrm>
          <a:prstGeom prst="roundRect">
            <a:avLst>
              <a:gd name="adj" fmla="val 8000"/>
            </a:avLst>
          </a:prstGeom>
          <a:solidFill>
            <a:srgbClr val="275829">
              <a:alpha val="6275"/>
            </a:srgbClr>
          </a:solidFill>
        </p:spPr>
      </p:sp>
      <p:sp>
        <p:nvSpPr>
          <p:cNvPr id="25" name="Text 21"/>
          <p:cNvSpPr/>
          <p:nvPr/>
        </p:nvSpPr>
        <p:spPr>
          <a:xfrm>
            <a:off x="6477000" y="26670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2. Statistical Models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6477000" y="3238500"/>
            <a:ext cx="4191000" cy="215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ARIMA, ARMA, Kalman filtering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Small computational overhead, suitable for short-term forecasts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Limited to </a:t>
            </a:r>
            <a:r>
              <a:rPr lang="en-US" sz="1600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linear timing dependencies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11049000" y="3810000"/>
            <a:ext cx="635000" cy="0"/>
          </a:xfrm>
          <a:prstGeom prst="straightConnector1">
            <a:avLst/>
          </a:prstGeom>
          <a:noFill/>
          <a:ln w="25400">
            <a:solidFill>
              <a:srgbClr val="61BB45"/>
            </a:solidFill>
            <a:prstDash val="solid"/>
            <a:headEnd type="none"/>
            <a:tailEnd type="arrow"/>
          </a:ln>
        </p:spPr>
      </p:sp>
      <p:sp>
        <p:nvSpPr>
          <p:cNvPr id="28" name="Shape 24"/>
          <p:cNvSpPr/>
          <p:nvPr/>
        </p:nvSpPr>
        <p:spPr>
          <a:xfrm>
            <a:off x="11836400" y="2540000"/>
            <a:ext cx="3759200" cy="3048000"/>
          </a:xfrm>
          <a:prstGeom prst="roundRect">
            <a:avLst>
              <a:gd name="adj" fmla="val 8000"/>
            </a:avLst>
          </a:prstGeom>
          <a:solidFill>
            <a:srgbClr val="275829">
              <a:alpha val="12549"/>
            </a:srgbClr>
          </a:solidFill>
          <a:ln w="25400">
            <a:solidFill>
              <a:srgbClr val="275829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2090400" y="2667000"/>
            <a:ext cx="32512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3. Deep Learning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12090400" y="3238500"/>
            <a:ext cx="3251200" cy="215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RNN, LSTM, GRU, CNN, Transformer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Automatic feature learning, long-range dependency modeling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61BB4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Current mainstream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609600" y="5842000"/>
            <a:ext cx="14986000" cy="50800"/>
          </a:xfrm>
          <a:prstGeom prst="rect">
            <a:avLst/>
          </a:prstGeom>
          <a:solidFill>
            <a:srgbClr val="E74C3C"/>
          </a:solidFill>
        </p:spPr>
      </p:sp>
      <p:sp>
        <p:nvSpPr>
          <p:cNvPr id="32" name="Text 28"/>
          <p:cNvSpPr/>
          <p:nvPr/>
        </p:nvSpPr>
        <p:spPr>
          <a:xfrm>
            <a:off x="609600" y="6096000"/>
            <a:ext cx="508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Current Research Gap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609600" y="6667500"/>
            <a:ext cx="14986000" cy="1778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High-accuracy models rely on </a:t>
            </a: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multimodal data</a:t>
            </a: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(meal, exercise, insulin, heart rate) - hard to collect in practice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CGM-only models still need </a:t>
            </a: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days of data</a:t>
            </a: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before working well for new users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Individual physiological differences cause </a:t>
            </a: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generalization failure</a:t>
            </a: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on some subjects</a:t>
            </a:r>
            <a:endParaRPr lang="en-US" sz="1600" dirty="0"/>
          </a:p>
        </p:txBody>
      </p:sp>
      <p:grpSp>
        <p:nvGrpSpPr>
          <p:cNvPr id="34" name="组合 33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35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36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7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8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9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40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1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2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3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4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5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71120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Research Motivation and Core Objectives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Shape 16"/>
          <p:cNvSpPr/>
          <p:nvPr/>
        </p:nvSpPr>
        <p:spPr>
          <a:xfrm>
            <a:off x="609600" y="2476500"/>
            <a:ext cx="14986000" cy="1016000"/>
          </a:xfrm>
          <a:prstGeom prst="roundRect">
            <a:avLst>
              <a:gd name="adj" fmla="val 8000"/>
            </a:avLst>
          </a:prstGeom>
          <a:solidFill>
            <a:srgbClr val="275829">
              <a:alpha val="8235"/>
            </a:srgbClr>
          </a:solidFill>
        </p:spPr>
      </p:sp>
      <p:sp>
        <p:nvSpPr>
          <p:cNvPr id="21" name="Text 17"/>
          <p:cNvSpPr/>
          <p:nvPr/>
        </p:nvSpPr>
        <p:spPr>
          <a:xfrm>
            <a:off x="863600" y="2603500"/>
            <a:ext cx="14478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Core Question:</a:t>
            </a:r>
            <a:r>
              <a:rPr lang="en-US" sz="2200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Can we achieve accurate glucose prediction using ONLY CGM sequences + age/BMI?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609600" y="3810000"/>
            <a:ext cx="4699000" cy="2540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63600" y="4000500"/>
            <a:ext cx="508000" cy="508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24" name="Text 20"/>
          <p:cNvSpPr/>
          <p:nvPr/>
        </p:nvSpPr>
        <p:spPr>
          <a:xfrm>
            <a:off x="863600" y="4000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1524000" y="4000500"/>
            <a:ext cx="3556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Complete Pipeline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863600" y="4699000"/>
            <a:ext cx="4191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Build and test a complete CGM-only prediction framework with S-G filtering, covering data cleaning to model evaluation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562600" y="3810000"/>
            <a:ext cx="4699000" cy="2540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816600" y="4000500"/>
            <a:ext cx="508000" cy="508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29" name="Text 25"/>
          <p:cNvSpPr/>
          <p:nvPr/>
        </p:nvSpPr>
        <p:spPr>
          <a:xfrm>
            <a:off x="5816600" y="4000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6477000" y="4000500"/>
            <a:ext cx="3556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Systematic Comparison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5816600" y="4699000"/>
            <a:ext cx="4191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Compare 8 models under identical conditions; select Transformer as base model for its accuracy and architectural advantages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10515600" y="3810000"/>
            <a:ext cx="5080000" cy="2540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0769600" y="4000500"/>
            <a:ext cx="508000" cy="508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4" name="Text 30"/>
          <p:cNvSpPr/>
          <p:nvPr/>
        </p:nvSpPr>
        <p:spPr>
          <a:xfrm>
            <a:off x="10769600" y="4000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11430000" y="4000500"/>
            <a:ext cx="3937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Few-Shot Personalization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10769600" y="4699000"/>
            <a:ext cx="4572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Transfer learning + FOMAML meta-learning for rapid personalization with only 30-50 samples (~2.5 hours)</a:t>
            </a:r>
            <a:endParaRPr lang="en-US" sz="1600" dirty="0"/>
          </a:p>
        </p:txBody>
      </p:sp>
      <p:sp>
        <p:nvSpPr>
          <p:cNvPr id="37" name="Text 33"/>
          <p:cNvSpPr/>
          <p:nvPr/>
        </p:nvSpPr>
        <p:spPr>
          <a:xfrm>
            <a:off x="609600" y="6731000"/>
            <a:ext cx="14986000" cy="1778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Validation:</a:t>
            </a: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174 subjects across healthy, prediabetic, T1D, and T2D populations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Key innovation:</a:t>
            </a: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"Cloud pre-training + local fine-tuning" privacy-preserving deployment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Clinical impact:</a:t>
            </a: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Enables real-time personalized glucose prediction from day one of CGM use</a:t>
            </a:r>
            <a:endParaRPr lang="en-US" sz="1600" dirty="0"/>
          </a:p>
        </p:txBody>
      </p:sp>
      <p:grpSp>
        <p:nvGrpSpPr>
          <p:cNvPr id="38" name="组合 37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39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40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1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2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3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44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5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6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7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8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9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7366000" y="2540000"/>
            <a:ext cx="1270000" cy="1270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5" name="Text 2"/>
          <p:cNvSpPr/>
          <p:nvPr/>
        </p:nvSpPr>
        <p:spPr>
          <a:xfrm>
            <a:off x="7366000" y="2540000"/>
            <a:ext cx="1270000" cy="1270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02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66000" y="4064000"/>
            <a:ext cx="889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Data Processing &amp; Filtering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66000" y="4953000"/>
            <a:ext cx="1524000" cy="50800"/>
          </a:xfrm>
          <a:prstGeom prst="rect">
            <a:avLst/>
          </a:prstGeom>
          <a:solidFill>
            <a:srgbClr val="61BB45"/>
          </a:solidFill>
        </p:spPr>
      </p:sp>
      <p:sp>
        <p:nvSpPr>
          <p:cNvPr id="8" name="Text 5"/>
          <p:cNvSpPr/>
          <p:nvPr/>
        </p:nvSpPr>
        <p:spPr>
          <a:xfrm>
            <a:off x="7366000" y="5207000"/>
            <a:ext cx="8128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20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Heterogeneous dataset fusion, standardization, noise analysis, and filtering pipeline</a:t>
            </a:r>
            <a:endParaRPr lang="en-US" sz="1600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>
            <a:alphaModFix amt="20000"/>
          </a:blip>
          <a:srcRect l="8072" r="82261" b="25125"/>
          <a:stretch>
            <a:fillRect/>
          </a:stretch>
        </p:blipFill>
        <p:spPr>
          <a:xfrm>
            <a:off x="0" y="635"/>
            <a:ext cx="6118225" cy="91433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283210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212090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Heterogeneous Dataset Fusion and Standardization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Shape 16"/>
          <p:cNvSpPr/>
          <p:nvPr/>
        </p:nvSpPr>
        <p:spPr>
          <a:xfrm>
            <a:off x="609600" y="2476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275829">
              <a:alpha val="6275"/>
            </a:srgbClr>
          </a:solidFill>
        </p:spPr>
      </p:sp>
      <p:sp>
        <p:nvSpPr>
          <p:cNvPr id="21" name="Text 17"/>
          <p:cNvSpPr/>
          <p:nvPr/>
        </p:nvSpPr>
        <p:spPr>
          <a:xfrm>
            <a:off x="863600" y="2603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Colas Dataset (T2D)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863600" y="3111500"/>
            <a:ext cx="4191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Medtronic MiniMed iPro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NGT to prediabetes to T2D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High clinical heterogeneity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562600" y="2476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275829">
              <a:alpha val="6275"/>
            </a:srgbClr>
          </a:solidFill>
        </p:spPr>
      </p:sp>
      <p:sp>
        <p:nvSpPr>
          <p:cNvPr id="24" name="Text 20"/>
          <p:cNvSpPr/>
          <p:nvPr/>
        </p:nvSpPr>
        <p:spPr>
          <a:xfrm>
            <a:off x="5816600" y="2603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Hall Dataset (Healthy)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5816600" y="3111500"/>
            <a:ext cx="4191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Dexcom G4 monitoring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"Glucotypes" concept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Healthy and sub-healthy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0515600" y="2476500"/>
            <a:ext cx="5080000" cy="2286000"/>
          </a:xfrm>
          <a:prstGeom prst="roundRect">
            <a:avLst>
              <a:gd name="adj" fmla="val 8000"/>
            </a:avLst>
          </a:prstGeom>
          <a:solidFill>
            <a:srgbClr val="275829">
              <a:alpha val="6275"/>
            </a:srgbClr>
          </a:solidFill>
        </p:spPr>
      </p:sp>
      <p:sp>
        <p:nvSpPr>
          <p:cNvPr id="27" name="Text 23"/>
          <p:cNvSpPr/>
          <p:nvPr/>
        </p:nvSpPr>
        <p:spPr>
          <a:xfrm>
            <a:off x="10769600" y="2603500"/>
            <a:ext cx="4572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OhioT1DM Dataset (T1D)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10769600" y="3111500"/>
            <a:ext cx="4572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12 T1D subjects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Most severe fluctuations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Insulin pump treatment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609600" y="5016500"/>
            <a:ext cx="14986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Full Spectrum:</a:t>
            </a:r>
            <a:r>
              <a:rPr lang="en-US" sz="1800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Health → Prediabetes → T2D → T1D | </a:t>
            </a: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174 subjects, 117,570 observations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609600" y="55880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Standardization Pipeline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609600" y="6159500"/>
            <a:ext cx="762000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1. Field alignment: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{id, time, gl, age, bmi}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2. Unit conversion: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All to mg/dL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3. Linear resampling: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Strict 5-min intervals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 Missing data: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≤15 min: Cubic spline interpolation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&gt;15 min: Sequence segmentation (exclude &lt;6h)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8636000" y="5588000"/>
            <a:ext cx="4445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Table 2.1 Physiological Parameters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/>
        </p:nvGraphicFramePr>
        <p:xfrm>
          <a:off x="8636000" y="6159500"/>
          <a:ext cx="6934200" cy="2286000"/>
        </p:xfrm>
        <a:graphic>
          <a:graphicData uri="http://schemas.openxmlformats.org/drawingml/2006/table">
            <a:tbl>
              <a:tblPr/>
              <a:tblGrid>
                <a:gridCol w="2773680"/>
                <a:gridCol w="2426970"/>
                <a:gridCol w="1733550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Metric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Mean±SD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Range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Age (year)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54.7±13.2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25-88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BMI (kg/m²)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29.1±4.6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18-44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Avg BG (mg/dL)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111.5±38.4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40-350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34" name="组合 33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35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36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7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8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9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40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1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2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3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4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5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283337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212217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CGM Noise Analysis and Assessment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Text 16"/>
          <p:cNvSpPr/>
          <p:nvPr/>
        </p:nvSpPr>
        <p:spPr>
          <a:xfrm>
            <a:off x="609600" y="2476500"/>
            <a:ext cx="6604000" cy="609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Four Noise Sources: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600"/>
              </a:spcBef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1. </a:t>
            </a: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Electrochemical sensor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inherent noise and enzyme electrode aging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600"/>
              </a:spcBef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2. </a:t>
            </a: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Physiological delay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(5-15 min) and dynamic error during rapid changes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600"/>
              </a:spcBef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3. </a:t>
            </a: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Motion artifacts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and PISA (pressure-induced sensor attenuation)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600"/>
              </a:spcBef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 </a:t>
            </a: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Thermal noise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and quantization error in ADC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1400"/>
              </a:spcBef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Three Evaluation Metrics: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600"/>
              </a:spcBef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Noise Std Dev (threshold: 1.5 mg/dL)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SNR (threshold: 10.0)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Abnormal change ratio (threshold: 10%)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1400"/>
              </a:spcBef>
            </a:pPr>
            <a:r>
              <a:rPr lang="en-US" sz="20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Result: 90.8% of 174 subjects need filtering</a:t>
            </a:r>
            <a:endParaRPr lang="en-US" sz="1600" dirty="0"/>
          </a:p>
        </p:txBody>
      </p:sp>
      <p:pic>
        <p:nvPicPr>
          <p:cNvPr id="21" name="Image 2" descr="https://kimi-img.moonshot.cn/pub/slides/okc/wc2nv4gztwxge/mnt/agents/output/cgm_thesis/images/fig3_1_noise_analysis.png"/>
          <p:cNvPicPr>
            <a:picLocks noChangeAspect="1"/>
          </p:cNvPicPr>
          <p:nvPr/>
        </p:nvPicPr>
        <p:blipFill>
          <a:blip r:embed="rId4"/>
          <a:srcRect t="-4143" b="-4143"/>
          <a:stretch>
            <a:fillRect/>
          </a:stretch>
        </p:blipFill>
        <p:spPr>
          <a:xfrm>
            <a:off x="7493000" y="2476500"/>
            <a:ext cx="8128000" cy="58420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493000" y="8382000"/>
            <a:ext cx="8128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3.1 (1)SNR (2)Noise level (3)Anomaly ratio (4)Scatter plot</a:t>
            </a:r>
            <a:endParaRPr lang="en-US" sz="1600" dirty="0"/>
          </a:p>
        </p:txBody>
      </p:sp>
      <p:grpSp>
        <p:nvGrpSpPr>
          <p:cNvPr id="23" name="组合 22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4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5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6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27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8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29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0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1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2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3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4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283337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212217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Filtering Theory and Evaluation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Text 16"/>
          <p:cNvSpPr/>
          <p:nvPr/>
        </p:nvSpPr>
        <p:spPr>
          <a:xfrm>
            <a:off x="609600" y="2349500"/>
            <a:ext cx="635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Table 3.2 Comparison of Filtering Results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609600" y="2794000"/>
          <a:ext cx="14986000" cy="2540000"/>
        </p:xfrm>
        <a:graphic>
          <a:graphicData uri="http://schemas.openxmlformats.org/drawingml/2006/table">
            <a:tbl>
              <a:tblPr/>
              <a:tblGrid>
                <a:gridCol w="2997200"/>
                <a:gridCol w="2997200"/>
                <a:gridCol w="2997200"/>
                <a:gridCol w="2997200"/>
                <a:gridCol w="2997200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Index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Kalman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S-G Filter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Butterworth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Ideal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NRR (%)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-6.6±3.7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14.0±6.2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18.8±7.1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High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SNR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7.9±2.0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9.4±2.2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9.9±2.3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High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PPR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1.009±0.005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0.987±0.007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0.972±0.008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≈1.0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Phase Lag (min)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1.7±2.4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2" name="Text 17"/>
          <p:cNvSpPr/>
          <p:nvPr/>
        </p:nvSpPr>
        <p:spPr>
          <a:xfrm>
            <a:off x="609600" y="55880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Analysis &amp; Conclusion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09600" y="6159500"/>
            <a:ext cx="14986000" cy="254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Kalman: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Negative NRR and phase lag - not suitable for prediction input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Butterworth: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Highest noise removal (18.8%) but attenuates peaks (PPR 0.972) - loses 3% per peak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S-G Filter: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Best balance - moderate denoising (14.0%) with excellent peak preservation (PPR 0.987)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Conclusion: S-G selected for preserving local extrema without delay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Zero phase lag ensures strict timeline alignment; third-order polynomial fits glucose smooth curves</a:t>
            </a:r>
            <a:endParaRPr lang="en-US" sz="1600" dirty="0"/>
          </a:p>
        </p:txBody>
      </p:sp>
      <p:grpSp>
        <p:nvGrpSpPr>
          <p:cNvPr id="24" name="组合 23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5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6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7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28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9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0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1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2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3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4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5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7366000" y="2540000"/>
            <a:ext cx="1270000" cy="1270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5" name="Text 2"/>
          <p:cNvSpPr/>
          <p:nvPr/>
        </p:nvSpPr>
        <p:spPr>
          <a:xfrm>
            <a:off x="7366000" y="2540000"/>
            <a:ext cx="1270000" cy="1270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03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66000" y="4064000"/>
            <a:ext cx="889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General Prediction Models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66000" y="4953000"/>
            <a:ext cx="1524000" cy="50800"/>
          </a:xfrm>
          <a:prstGeom prst="rect">
            <a:avLst/>
          </a:prstGeom>
          <a:solidFill>
            <a:srgbClr val="61BB45"/>
          </a:solidFill>
        </p:spPr>
      </p:sp>
      <p:sp>
        <p:nvSpPr>
          <p:cNvPr id="8" name="Text 5"/>
          <p:cNvSpPr/>
          <p:nvPr/>
        </p:nvSpPr>
        <p:spPr>
          <a:xfrm>
            <a:off x="7366000" y="5207000"/>
            <a:ext cx="8128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20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Problem definition, baseline models, deep learning architectures, and comprehensive evaluation</a:t>
            </a:r>
            <a:endParaRPr lang="en-US" sz="1600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>
            <a:alphaModFix amt="20000"/>
          </a:blip>
          <a:srcRect l="8072" r="82261" b="25125"/>
          <a:stretch>
            <a:fillRect/>
          </a:stretch>
        </p:blipFill>
        <p:spPr>
          <a:xfrm>
            <a:off x="0" y="635"/>
            <a:ext cx="6118225" cy="91433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508762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4465320" y="1104900"/>
            <a:ext cx="14605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Problem Definition and Evaluation Metrics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Shape 16"/>
          <p:cNvSpPr/>
          <p:nvPr/>
        </p:nvSpPr>
        <p:spPr>
          <a:xfrm>
            <a:off x="609600" y="2476500"/>
            <a:ext cx="7112000" cy="3302000"/>
          </a:xfrm>
          <a:prstGeom prst="roundRect">
            <a:avLst>
              <a:gd name="adj" fmla="val 8000"/>
            </a:avLst>
          </a:prstGeom>
          <a:solidFill>
            <a:srgbClr val="275829">
              <a:alpha val="6275"/>
            </a:srgbClr>
          </a:solidFill>
        </p:spPr>
      </p:sp>
      <p:sp>
        <p:nvSpPr>
          <p:cNvPr id="21" name="Text 17"/>
          <p:cNvSpPr/>
          <p:nvPr/>
        </p:nvSpPr>
        <p:spPr>
          <a:xfrm>
            <a:off x="863600" y="2603500"/>
            <a:ext cx="6604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Prediction Task Definition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863600" y="3111500"/>
            <a:ext cx="6604000" cy="254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Task: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Supervised time series regression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Input: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Past 12 CGM readings (60 min) + age + BMI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Output: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Glucose at 6 steps ahead (30 min horizon)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Data split: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Past-Future Split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Last 6h as test set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10 hold-out subjects for independent validation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8102600" y="2476500"/>
            <a:ext cx="7493000" cy="3302000"/>
          </a:xfrm>
          <a:prstGeom prst="roundRect">
            <a:avLst>
              <a:gd name="adj" fmla="val 8000"/>
            </a:avLst>
          </a:prstGeom>
          <a:solidFill>
            <a:srgbClr val="275829">
              <a:alpha val="6275"/>
            </a:srgbClr>
          </a:solidFill>
        </p:spPr>
      </p:sp>
      <p:sp>
        <p:nvSpPr>
          <p:cNvPr id="24" name="Text 20"/>
          <p:cNvSpPr/>
          <p:nvPr/>
        </p:nvSpPr>
        <p:spPr>
          <a:xfrm>
            <a:off x="8356600" y="2603500"/>
            <a:ext cx="6985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Evaluation Metrics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356600" y="3111500"/>
            <a:ext cx="6985000" cy="254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Statistical: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MAE, RMSE, MAPE, RMSPE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800"/>
              </a:spcBef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Clinical: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Clarke Error Grid Analysis (CEGA)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Zone A: Clinically accurate (±20%)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Zone B: Clinically acceptable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Zones C/D/E: Dangerous - overcorrection / failure / erroneous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609600" y="6096000"/>
            <a:ext cx="14986000" cy="254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Clarke Error Grid Zones: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2E7D3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Zone A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- Accurate within 20% or hypoglycemia range | </a:t>
            </a:r>
            <a:r>
              <a:rPr lang="en-US" sz="1600" b="1" dirty="0">
                <a:solidFill>
                  <a:srgbClr val="689F3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Zone B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- Deviation &gt;20% but no improper treatment | </a:t>
            </a:r>
            <a:r>
              <a:rPr lang="en-US" sz="1600" b="1" dirty="0">
                <a:solidFill>
                  <a:srgbClr val="F9A82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Zone C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- Overcorrection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EF6C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Zone D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- Failure to detect dangerous events | </a:t>
            </a:r>
            <a:r>
              <a:rPr lang="en-US" sz="1600" b="1" dirty="0">
                <a:solidFill>
                  <a:srgbClr val="C6282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Zone E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- Completely wrong treatment direction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Target: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&gt;95% predictions in Zone A+B for clinical applicability</a:t>
            </a:r>
            <a:endParaRPr lang="en-US" sz="1600" dirty="0"/>
          </a:p>
        </p:txBody>
      </p:sp>
      <p:grpSp>
        <p:nvGrpSpPr>
          <p:cNvPr id="27" name="组合 26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8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9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0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1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2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3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4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5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6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7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8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5087620" y="96647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4465320" y="1131570"/>
            <a:ext cx="14605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Baseline and Machine Learning Models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pic>
        <p:nvPicPr>
          <p:cNvPr id="20" name="Image 2" descr="https://kimi-img.moonshot.cn/pub/slides/okc/wc2nv4gztwxge/mnt/agents/output/cgm_thesis/images/fig4_1_arima_s306.png"/>
          <p:cNvPicPr>
            <a:picLocks noChangeAspect="1"/>
          </p:cNvPicPr>
          <p:nvPr/>
        </p:nvPicPr>
        <p:blipFill>
          <a:blip r:embed="rId4"/>
          <a:srcRect l="-10111" r="-10111"/>
          <a:stretch>
            <a:fillRect/>
          </a:stretch>
        </p:blipFill>
        <p:spPr>
          <a:xfrm>
            <a:off x="609600" y="2476500"/>
            <a:ext cx="7366000" cy="3556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9600" y="6096000"/>
            <a:ext cx="7366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4.1 ARIMA prediction on Subject 306 (RMSE 8.96)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382000" y="2476500"/>
            <a:ext cx="7366000" cy="393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ARIMA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(RMSE 8.96): Univariate only, no static features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Linear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(RMSE 8.53): Surprisingly competitive - sliding window encodes recent trend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KNN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(RMSE 15.63): </a:t>
            </a:r>
            <a:r>
              <a:rPr lang="en-US" sz="1600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Worst performer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- nonstationary dynamics cause mean regression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Random Forest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(RMSE 10.28): Bootstrap aggregation regularizes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XGBoost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(RMSE 12.33): Tight fit sensitive to distribution shift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Common flaw: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All show prediction lag during rapid glucose changes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600"/>
              </a:spcBef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Linear cannot capture nonlinear dynamics; needs new observation to respond to trend reversal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609600" y="6731000"/>
            <a:ext cx="14986000" cy="762000"/>
          </a:xfrm>
          <a:prstGeom prst="roundRect">
            <a:avLst>
              <a:gd name="adj" fmla="val 8000"/>
            </a:avLst>
          </a:prstGeom>
          <a:solidFill>
            <a:srgbClr val="275829">
              <a:alpha val="6275"/>
            </a:srgbClr>
          </a:solidFill>
        </p:spPr>
      </p:sp>
      <p:sp>
        <p:nvSpPr>
          <p:cNvPr id="24" name="Text 19"/>
          <p:cNvSpPr/>
          <p:nvPr/>
        </p:nvSpPr>
        <p:spPr>
          <a:xfrm>
            <a:off x="863600" y="6858000"/>
            <a:ext cx="144780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Traditional models rely on linear assumptions and handcrafted features - need deep learning for nonlinear glucose dynamics</a:t>
            </a:r>
            <a:endParaRPr lang="en-US" sz="1600" dirty="0"/>
          </a:p>
        </p:txBody>
      </p:sp>
      <p:grpSp>
        <p:nvGrpSpPr>
          <p:cNvPr id="25" name="组合 24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6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7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8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29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0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1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2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3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4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5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6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5087620" y="9271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4465320" y="1104900"/>
            <a:ext cx="14605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Deep Learning Sequence Models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pic>
        <p:nvPicPr>
          <p:cNvPr id="20" name="Image 2" descr="https://kimi-img.moonshot.cn/pub/slides/okc/wc2nv4gztwxge/mnt/agents/output/cgm_thesis/images/fig4_8_lstm_s306.png"/>
          <p:cNvPicPr>
            <a:picLocks noChangeAspect="1"/>
          </p:cNvPicPr>
          <p:nvPr/>
        </p:nvPicPr>
        <p:blipFill>
          <a:blip r:embed="rId4"/>
          <a:srcRect l="-10111" r="-10111"/>
          <a:stretch>
            <a:fillRect/>
          </a:stretch>
        </p:blipFill>
        <p:spPr>
          <a:xfrm>
            <a:off x="609600" y="2476500"/>
            <a:ext cx="7366000" cy="3556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9600" y="6096000"/>
            <a:ext cx="7366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4.8 LSTM prediction on Subject 306 (RMSE 8.19 - best overall)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382000" y="2476500"/>
            <a:ext cx="7366000" cy="393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CNN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(RMSE 8.70): 1D convolution captures local slope patterns; translation invariance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RNN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(RMSE 11.03): Gradient vanishing limits long-term capture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LSTM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(RMSE 8.19): </a:t>
            </a:r>
            <a:r>
              <a:rPr lang="en-US" sz="1600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Best overall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- gates selectively remember trends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1000"/>
              </a:spcBef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Key insight: LSTM's selective memory fits glucose data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Remembers trend from 10 min ago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Ignores noise spike 5 min ago</a:t>
            </a:r>
            <a:endParaRPr lang="en-US" sz="1600" dirty="0"/>
          </a:p>
          <a:p>
            <a:pPr>
              <a:lnSpc>
                <a:spcPct val="145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Recent rate of change matters more than absolute level</a:t>
            </a:r>
            <a:endParaRPr lang="en-US" sz="1600" dirty="0"/>
          </a:p>
          <a:p>
            <a:pPr>
              <a:lnSpc>
                <a:spcPct val="145000"/>
              </a:lnSpc>
              <a:spcBef>
                <a:spcPts val="1000"/>
              </a:spcBef>
            </a:pP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609600" y="6731000"/>
            <a:ext cx="14986000" cy="762000"/>
          </a:xfrm>
          <a:prstGeom prst="roundRect">
            <a:avLst>
              <a:gd name="adj" fmla="val 8000"/>
            </a:avLst>
          </a:prstGeom>
          <a:solidFill>
            <a:srgbClr val="275829">
              <a:alpha val="6275"/>
            </a:srgbClr>
          </a:solidFill>
        </p:spPr>
      </p:sp>
      <p:sp>
        <p:nvSpPr>
          <p:cNvPr id="24" name="Text 19"/>
          <p:cNvSpPr/>
          <p:nvPr/>
        </p:nvSpPr>
        <p:spPr>
          <a:xfrm>
            <a:off x="863600" y="6858000"/>
            <a:ext cx="144780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LSTM achieves best RMSE but Transformer offers unique structural advantages for transfer learning</a:t>
            </a:r>
            <a:endParaRPr lang="en-US" sz="1600" dirty="0"/>
          </a:p>
        </p:txBody>
      </p:sp>
      <p:grpSp>
        <p:nvGrpSpPr>
          <p:cNvPr id="25" name="组合 24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6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7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8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29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0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1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2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3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4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5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6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5087620" y="9906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4465320" y="1104900"/>
            <a:ext cx="14605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Transformer Architecture and Advantages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pic>
        <p:nvPicPr>
          <p:cNvPr id="20" name="Image 2" descr="https://kimi-img.moonshot.cn/pub/slides/okc/wc2nv4gztwxge/mnt/agents/output/cgm_thesis/images/fig4_9_transformer_s306.png"/>
          <p:cNvPicPr>
            <a:picLocks noChangeAspect="1"/>
          </p:cNvPicPr>
          <p:nvPr/>
        </p:nvPicPr>
        <p:blipFill>
          <a:blip r:embed="rId4"/>
          <a:srcRect l="-10111" r="-10111"/>
          <a:stretch>
            <a:fillRect/>
          </a:stretch>
        </p:blipFill>
        <p:spPr>
          <a:xfrm>
            <a:off x="609600" y="2476500"/>
            <a:ext cx="7366000" cy="3556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9600" y="6096000"/>
            <a:ext cx="7366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4.9 Transformer prediction on Subject 306 (RMSE 9.14)</a:t>
            </a: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 17"/>
              <p:cNvSpPr/>
              <p:nvPr/>
            </p:nvSpPr>
            <p:spPr>
              <a:xfrm>
                <a:off x="8382000" y="2476500"/>
                <a:ext cx="7366000" cy="41275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45000"/>
                  </a:lnSpc>
                </a:pPr>
                <a:r>
                  <a:rPr lang="en-US" sz="1600" b="1" dirty="0">
                    <a:solidFill>
                      <a:srgbClr val="000000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Architecture:</a:t>
                </a: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 Encoder-only, multi-head self-attention</a:t>
                </a:r>
                <a:endParaRPr lang="en-US" sz="1600" dirty="0"/>
              </a:p>
              <a:p>
                <a:pPr>
                  <a:lnSpc>
                    <a:spcPct val="145000"/>
                  </a:lnSpc>
                  <a:spcBef>
                    <a:spcPts val="800"/>
                  </a:spcBef>
                </a:pPr>
                <a:r>
                  <a:rPr lang="en-US" sz="1600" b="1" dirty="0">
                    <a:solidFill>
                      <a:srgbClr val="000000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Attention:</a:t>
                </a: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charset="0"/>
                      </a:rPr>
                      <m:t>𝐴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𝑡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𝑡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𝑒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𝑛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𝑡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𝑖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𝑜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𝑛</m:t>
                    </m:r>
                    <m:r>
                      <a:rPr lang="en-US" sz="1600" dirty="0">
                        <a:latin typeface="Cambria Math" panose="02040503050406030204" charset="0"/>
                      </a:rPr>
                      <m:t>(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𝑄</m:t>
                    </m:r>
                    <m:r>
                      <a:rPr lang="en-US" sz="1600" dirty="0">
                        <a:latin typeface="Cambria Math" panose="02040503050406030204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𝐾</m:t>
                    </m:r>
                    <m:r>
                      <a:rPr lang="en-US" sz="1600" dirty="0">
                        <a:latin typeface="Cambria Math" panose="02040503050406030204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𝑉</m:t>
                    </m:r>
                    <m:r>
                      <a:rPr lang="en-US" sz="1600" dirty="0">
                        <a:latin typeface="Cambria Math" panose="02040503050406030204" charset="0"/>
                      </a:rPr>
                      <m:t>)</m:t>
                    </m:r>
                    <m:r>
                      <a:rPr lang="en-US" sz="1600" dirty="0">
                        <a:latin typeface="Cambria Math" panose="02040503050406030204" charset="0"/>
                      </a:rPr>
                      <m:t>=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𝑠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𝑜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𝑓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𝑡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𝑚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𝑎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𝑥</m:t>
                    </m:r>
                    <m:r>
                      <a:rPr lang="en-US" sz="1600" dirty="0">
                        <a:latin typeface="Cambria Math" panose="02040503050406030204" charset="0"/>
                      </a:rPr>
                      <m:t>(</m:t>
                    </m:r>
                    <m:f>
                      <m:fPr>
                        <m:ctrlPr>
                          <a:rPr/>
                        </m:ctrlPr>
                      </m:fPr>
                      <m:num>
                        <m:r>
                          <a:rPr lang="en-US" sz="1100" i="1" dirty="0">
                            <a:latin typeface="Cambria Math" panose="02040503050406030204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800" dirty="0"/>
                            </m:ctrlPr>
                          </m:sSupPr>
                          <m:e>
                            <m:r>
                              <a:rPr lang="en-US" sz="800" i="1" dirty="0">
                                <a:latin typeface="Cambria Math" panose="02040503050406030204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800" i="1" dirty="0">
                                <a:latin typeface="Cambria Math" panose="02040503050406030204" charset="0"/>
                              </a:rPr>
                              <m:t>𝑇</m:t>
                            </m:r>
                          </m:sup>
                        </m:sSup>
                      </m:num>
                      <m:den>
                        <m:rad>
                          <m:radPr>
                            <m:ctrlPr>
                              <a:rPr/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sz="600" dirty="0"/>
                                </m:ctrlPr>
                              </m:sSubPr>
                              <m:e>
                                <m:r>
                                  <a:rPr lang="en-US" sz="600" i="1" dirty="0">
                                    <a:latin typeface="Cambria Math" panose="02040503050406030204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sz="600" i="1" dirty="0">
                                    <a:latin typeface="Cambria Math" panose="02040503050406030204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en-US" sz="1600" dirty="0">
                        <a:latin typeface="Cambria Math" panose="02040503050406030204" charset="0"/>
                      </a:rPr>
                      <m:t>)</m:t>
                    </m:r>
                    <m:r>
                      <a:rPr lang="en-US" sz="1600" i="1" dirty="0">
                        <a:latin typeface="Cambria Math" panose="02040503050406030204" charset="0"/>
                      </a:rPr>
                      <m:t>𝑉</m:t>
                    </m:r>
                  </m:oMath>
                </a14:m>
                <a:endParaRPr lang="en-US" sz="1600" dirty="0"/>
              </a:p>
              <a:p>
                <a:pPr>
                  <a:lnSpc>
                    <a:spcPct val="145000"/>
                  </a:lnSpc>
                  <a:spcBef>
                    <a:spcPts val="800"/>
                  </a:spcBef>
                </a:pPr>
                <a:r>
                  <a:rPr lang="en-US" sz="1600" b="1" dirty="0">
                    <a:solidFill>
                      <a:srgbClr val="000000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Sinusoidal positional encoding</a:t>
                </a: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 for time order</a:t>
                </a:r>
                <a:endParaRPr lang="en-US" sz="1600" dirty="0"/>
              </a:p>
              <a:p>
                <a:pPr>
                  <a:lnSpc>
                    <a:spcPct val="145000"/>
                  </a:lnSpc>
                  <a:spcBef>
                    <a:spcPts val="1000"/>
                  </a:spcBef>
                </a:pPr>
                <a:r>
                  <a:rPr lang="en-US" sz="1600" b="1" dirty="0">
                    <a:solidFill>
                      <a:srgbClr val="E74C3C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Unique advantages over LSTM:</a:t>
                </a:r>
                <a:endParaRPr lang="en-US" sz="1600" dirty="0"/>
              </a:p>
              <a:p>
                <a:pPr>
                  <a:lnSpc>
                    <a:spcPct val="145000"/>
                  </a:lnSpc>
                </a:pP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1. O(1) long-range dependency modeling</a:t>
                </a:r>
                <a:endParaRPr lang="en-US" sz="1600" dirty="0"/>
              </a:p>
              <a:p>
                <a:pPr>
                  <a:lnSpc>
                    <a:spcPct val="145000"/>
                  </a:lnSpc>
                </a:pP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2. Fully parallel computing - faster training</a:t>
                </a:r>
                <a:endParaRPr lang="en-US" sz="1600" dirty="0"/>
              </a:p>
              <a:p>
                <a:pPr>
                  <a:lnSpc>
                    <a:spcPct val="145000"/>
                  </a:lnSpc>
                </a:pP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3. Modular: embedding + encoder + head</a:t>
                </a:r>
                <a:endParaRPr lang="en-US" sz="1600" dirty="0"/>
              </a:p>
              <a:p>
                <a:pPr>
                  <a:lnSpc>
                    <a:spcPct val="145000"/>
                  </a:lnSpc>
                </a:pP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4. Attention weight interpretability</a:t>
                </a:r>
                <a:endParaRPr lang="en-US" sz="1600" dirty="0"/>
              </a:p>
              <a:p>
                <a:pPr>
                  <a:lnSpc>
                    <a:spcPct val="145000"/>
                  </a:lnSpc>
                  <a:spcBef>
                    <a:spcPts val="800"/>
                  </a:spcBef>
                </a:pPr>
                <a:r>
                  <a:rPr lang="en-US" sz="1600" b="1" dirty="0">
                    <a:solidFill>
                      <a:srgbClr val="000000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Selected as base model</a:t>
                </a: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Arial" panose="020B0604020202020204" pitchFamily="34" charset="-122"/>
                    <a:cs typeface="Arial" panose="020B0604020202020204" pitchFamily="34" charset="-120"/>
                  </a:rPr>
                  <a:t> for personalization</a:t>
                </a:r>
                <a:endParaRPr lang="en-US" sz="1600" dirty="0"/>
              </a:p>
            </p:txBody>
          </p:sp>
        </mc:Choice>
        <mc:Fallback>
          <p:sp>
            <p:nvSpPr>
              <p:cNvPr id="22" name="Tex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476500"/>
                <a:ext cx="7366000" cy="412750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hape 18"/>
          <p:cNvSpPr/>
          <p:nvPr/>
        </p:nvSpPr>
        <p:spPr>
          <a:xfrm>
            <a:off x="609600" y="6731000"/>
            <a:ext cx="14986000" cy="762000"/>
          </a:xfrm>
          <a:prstGeom prst="roundRect">
            <a:avLst>
              <a:gd name="adj" fmla="val 8000"/>
            </a:avLst>
          </a:prstGeom>
          <a:solidFill>
            <a:srgbClr val="275829">
              <a:alpha val="6275"/>
            </a:srgbClr>
          </a:solidFill>
        </p:spPr>
      </p:sp>
      <p:sp>
        <p:nvSpPr>
          <p:cNvPr id="24" name="Text 19"/>
          <p:cNvSpPr/>
          <p:nvPr/>
        </p:nvSpPr>
        <p:spPr>
          <a:xfrm>
            <a:off x="863600" y="6858000"/>
            <a:ext cx="144780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Transformer: slightly behind LSTM in RMSE but superior architecture for transfer learning</a:t>
            </a:r>
            <a:endParaRPr lang="en-US" sz="1600" dirty="0"/>
          </a:p>
        </p:txBody>
      </p:sp>
      <p:grpSp>
        <p:nvGrpSpPr>
          <p:cNvPr id="25" name="组合 24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6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7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8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29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0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1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2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3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4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5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6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508762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4465320" y="1104900"/>
            <a:ext cx="14605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Comprehensive Performance Comparison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Text 16"/>
          <p:cNvSpPr/>
          <p:nvPr/>
        </p:nvSpPr>
        <p:spPr>
          <a:xfrm>
            <a:off x="609600" y="2349500"/>
            <a:ext cx="762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Table 4.1 Nine Models Comparison (30-min horizon)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609600" y="2794000"/>
          <a:ext cx="14986000" cy="4318000"/>
        </p:xfrm>
        <a:graphic>
          <a:graphicData uri="http://schemas.openxmlformats.org/drawingml/2006/table">
            <a:tbl>
              <a:tblPr/>
              <a:tblGrid>
                <a:gridCol w="2697480"/>
                <a:gridCol w="2397760"/>
                <a:gridCol w="2397760"/>
                <a:gridCol w="2397760"/>
                <a:gridCol w="2397760"/>
                <a:gridCol w="2697480"/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Model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MAE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RMSE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MAPE(%)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RMSPE(%)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CEG A+B(%)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ARIMA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5.80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8.96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4.47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6.91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99.8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Linear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5.23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8.53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4.38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6.83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99.8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KNN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11.33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15.63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9.95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13.63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93.4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Random Forest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6.64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10.28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5.58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8.23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99.2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XGBoost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8.22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12.33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6.98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10.14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98.1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CNN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5.41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8.70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4.55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7.08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99.8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RNN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7.47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11.03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6.33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8.93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99.0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LSTM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5.02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8.19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4.27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6.74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99.8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Transformer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6.50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9.14</a:t>
                      </a:r>
                      <a:endParaRPr lang="en-US" sz="1600" u="none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ea typeface="Arial" panose="020B0604020202020204" pitchFamily="34" charset="-122"/>
                        <a:cs typeface="Arial" panose="020B0604020202020204" pitchFamily="34" charset="-12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5.78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8.00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99.6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7"/>
          <p:cNvSpPr/>
          <p:nvPr/>
        </p:nvSpPr>
        <p:spPr>
          <a:xfrm>
            <a:off x="609600" y="7366000"/>
            <a:ext cx="14986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Key findings: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LSTM best overall (RMSE 8.19); Transformer close (9.14) with superior architecture for transfer learning; KNN unsuitable (15.63); All except KNN achieve &gt;99% clinical safety</a:t>
            </a:r>
            <a:endParaRPr lang="en-US" sz="1600" dirty="0"/>
          </a:p>
        </p:txBody>
      </p:sp>
      <p:grpSp>
        <p:nvGrpSpPr>
          <p:cNvPr id="23" name="组合 22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4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5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6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27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8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29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0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1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2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3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4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5087620" y="8890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4465320" y="1054100"/>
            <a:ext cx="14605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Clinical Safety (CEGA) and Waveform Analysis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pic>
        <p:nvPicPr>
          <p:cNvPr id="20" name="Image 2" descr="https://kimi-img.moonshot.cn/pub/slides/okc/wc2nv4gztwxge/mnt/agents/output/cgm_thesis/images/fig4_10_ceg_grid.png"/>
          <p:cNvPicPr>
            <a:picLocks noChangeAspect="1"/>
          </p:cNvPicPr>
          <p:nvPr/>
        </p:nvPicPr>
        <p:blipFill>
          <a:blip r:embed="rId4"/>
          <a:srcRect l="-24016" r="-24016"/>
          <a:stretch>
            <a:fillRect/>
          </a:stretch>
        </p:blipFill>
        <p:spPr>
          <a:xfrm>
            <a:off x="609600" y="2476500"/>
            <a:ext cx="7366000" cy="3556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9600" y="6096000"/>
            <a:ext cx="7366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4.10 CEG Clarke Error Grid for all 9 models</a:t>
            </a:r>
            <a:endParaRPr lang="en-US" sz="1600" dirty="0"/>
          </a:p>
        </p:txBody>
      </p:sp>
      <p:pic>
        <p:nvPicPr>
          <p:cNvPr id="22" name="Image 3" descr="https://kimi-img.moonshot.cn/pub/slides/okc/wc2nv4gztwxge/mnt/agents/output/cgm_thesis/images/fig4_11_all_models_s306.png"/>
          <p:cNvPicPr>
            <a:picLocks noChangeAspect="1"/>
          </p:cNvPicPr>
          <p:nvPr/>
        </p:nvPicPr>
        <p:blipFill>
          <a:blip r:embed="rId5"/>
          <a:srcRect l="-7055" r="-7055"/>
          <a:stretch>
            <a:fillRect/>
          </a:stretch>
        </p:blipFill>
        <p:spPr>
          <a:xfrm>
            <a:off x="8382000" y="2476500"/>
            <a:ext cx="7366000" cy="35560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82000" y="6096000"/>
            <a:ext cx="7366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4.11 Waveform comparison on Subject 306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09600" y="6604000"/>
            <a:ext cx="14986000" cy="215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CEGA Results: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All models except KNN achieve &gt;99% in A+B zones. LSTM, Linear, CNN, ARIMA reach 99.8% Zone A.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Waveform Analysis (Subject 306):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</a:t>
            </a: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Stable period: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All models similar - historical values provide sufficient info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</a:t>
            </a: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Rapid change: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Traditional models show 5-10 min phase lag; LSTM/Transformer respond acutely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Deep learning extracts second-order dynamics (acceleration, curvature) for trend anticipation</a:t>
            </a:r>
            <a:endParaRPr lang="en-US" sz="1600" dirty="0"/>
          </a:p>
        </p:txBody>
      </p:sp>
      <p:grpSp>
        <p:nvGrpSpPr>
          <p:cNvPr id="37" name="组合 36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38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39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0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1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2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43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4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5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6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7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8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5078730" y="939800"/>
            <a:ext cx="23368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4465320" y="1104900"/>
            <a:ext cx="14605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Limitations of General Models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Shape 16"/>
          <p:cNvSpPr/>
          <p:nvPr/>
        </p:nvSpPr>
        <p:spPr>
          <a:xfrm>
            <a:off x="609600" y="2476500"/>
            <a:ext cx="14986000" cy="1016000"/>
          </a:xfrm>
          <a:prstGeom prst="roundRect">
            <a:avLst>
              <a:gd name="adj" fmla="val 8000"/>
            </a:avLst>
          </a:prstGeom>
          <a:solidFill>
            <a:srgbClr val="E74C3C">
              <a:alpha val="8235"/>
            </a:srgbClr>
          </a:solidFill>
        </p:spPr>
      </p:sp>
      <p:sp>
        <p:nvSpPr>
          <p:cNvPr id="21" name="Text 17"/>
          <p:cNvSpPr/>
          <p:nvPr/>
        </p:nvSpPr>
        <p:spPr>
          <a:xfrm>
            <a:off x="863600" y="2603500"/>
            <a:ext cx="14478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Despite excellent overall performance, some subjects still show high prediction error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09600" y="3810000"/>
            <a:ext cx="508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Root Cause: Individual Differences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609600" y="4381500"/>
            <a:ext cx="7112000" cy="254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Insulin sensitivity varies across individuals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Gastric emptying rate differs significantly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Metabolic rate and eating habits differ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General model sacrifices specific individuals to reduce average error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8382000" y="3810000"/>
            <a:ext cx="508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"Cold Start" Problem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382000" y="4381500"/>
            <a:ext cx="7112000" cy="254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New users expect predictions from day one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But general model needs population data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Individual adaptation required on top of general model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Solution direction: </a:t>
            </a: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Transfer Learning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7874000" y="7112000"/>
            <a:ext cx="0" cy="762000"/>
          </a:xfrm>
          <a:prstGeom prst="straightConnector1">
            <a:avLst/>
          </a:prstGeom>
          <a:noFill/>
          <a:ln w="38100">
            <a:solidFill>
              <a:srgbClr val="275829"/>
            </a:solidFill>
            <a:prstDash val="solid"/>
            <a:headEnd type="none"/>
            <a:tailEnd type="arrow"/>
          </a:ln>
        </p:spPr>
      </p:sp>
      <p:sp>
        <p:nvSpPr>
          <p:cNvPr id="27" name="Text 23"/>
          <p:cNvSpPr/>
          <p:nvPr/>
        </p:nvSpPr>
        <p:spPr>
          <a:xfrm>
            <a:off x="609600" y="8001000"/>
            <a:ext cx="14986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Next: Transfer Learning for Rapid Personalization</a:t>
            </a:r>
            <a:endParaRPr lang="en-US" sz="1600" dirty="0"/>
          </a:p>
        </p:txBody>
      </p:sp>
      <p:grpSp>
        <p:nvGrpSpPr>
          <p:cNvPr id="28" name="组合 27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9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30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1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2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3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4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5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6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7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8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9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7366000" y="2540000"/>
            <a:ext cx="1270000" cy="1270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5" name="Text 2"/>
          <p:cNvSpPr/>
          <p:nvPr/>
        </p:nvSpPr>
        <p:spPr>
          <a:xfrm>
            <a:off x="7366000" y="2540000"/>
            <a:ext cx="1270000" cy="1270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04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66000" y="4064000"/>
            <a:ext cx="889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Transfer Learning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66000" y="4953000"/>
            <a:ext cx="1524000" cy="50800"/>
          </a:xfrm>
          <a:prstGeom prst="rect">
            <a:avLst/>
          </a:prstGeom>
          <a:solidFill>
            <a:srgbClr val="61BB45"/>
          </a:solidFill>
        </p:spPr>
      </p:sp>
      <p:sp>
        <p:nvSpPr>
          <p:cNvPr id="8" name="Text 5"/>
          <p:cNvSpPr/>
          <p:nvPr/>
        </p:nvSpPr>
        <p:spPr>
          <a:xfrm>
            <a:off x="7366000" y="5207000"/>
            <a:ext cx="8128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20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Frozen-encoder strategy for rapid personalization with limited individual data</a:t>
            </a:r>
            <a:endParaRPr lang="en-US" sz="1600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>
            <a:alphaModFix amt="20000"/>
          </a:blip>
          <a:srcRect l="8072" r="82261" b="25125"/>
          <a:stretch>
            <a:fillRect/>
          </a:stretch>
        </p:blipFill>
        <p:spPr>
          <a:xfrm>
            <a:off x="0" y="635"/>
            <a:ext cx="6118225" cy="91433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7270750" y="96647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6559550" y="113157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Transfer Learning Strategy: Freeze Encoder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Text 16"/>
          <p:cNvSpPr/>
          <p:nvPr/>
        </p:nvSpPr>
        <p:spPr>
          <a:xfrm>
            <a:off x="609600" y="2476500"/>
            <a:ext cx="7112000" cy="3111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Strategy: Pre-train → Fine-tune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Transformer decoupled into: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</a:t>
            </a: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Encoder: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learns general glucose dynamics (shared)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</a:t>
            </a: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Regression Head: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maps to individual-specific levels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Freeze encoder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during fine-tuning, update only head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Why? 30% data (~2-3 days) too few to update all parameters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10 hold-out subjects for verification</a:t>
            </a:r>
            <a:endParaRPr lang="en-US" sz="1600" dirty="0"/>
          </a:p>
        </p:txBody>
      </p:sp>
      <p:pic>
        <p:nvPicPr>
          <p:cNvPr id="21" name="Image 2" descr="https://kimi-img.moonshot.cn/pub/slides/okc/wc2nv4gztwxge/mnt/agents/output/cgm_thesis/images/fig5_1_data_split.png"/>
          <p:cNvPicPr>
            <a:picLocks noChangeAspect="1"/>
          </p:cNvPicPr>
          <p:nvPr/>
        </p:nvPicPr>
        <p:blipFill>
          <a:blip r:embed="rId4"/>
          <a:srcRect t="-16643" b="-16643"/>
          <a:stretch>
            <a:fillRect/>
          </a:stretch>
        </p:blipFill>
        <p:spPr>
          <a:xfrm>
            <a:off x="8128000" y="2476500"/>
            <a:ext cx="7620000" cy="35560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128000" y="6096000"/>
            <a:ext cx="7620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5.1 Data split for transfer learning on Subject 306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09600" y="6604000"/>
            <a:ext cx="508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Two-Step Process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609600" y="7175500"/>
            <a:ext cx="3556000" cy="762000"/>
          </a:xfrm>
          <a:prstGeom prst="roundRect">
            <a:avLst>
              <a:gd name="adj" fmla="val 8000"/>
            </a:avLst>
          </a:prstGeom>
          <a:solidFill>
            <a:srgbClr val="275829"/>
          </a:solidFill>
        </p:spPr>
      </p:sp>
      <p:sp>
        <p:nvSpPr>
          <p:cNvPr id="25" name="Text 20"/>
          <p:cNvSpPr/>
          <p:nvPr/>
        </p:nvSpPr>
        <p:spPr>
          <a:xfrm>
            <a:off x="609600" y="7175500"/>
            <a:ext cx="3556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1. Pre-train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Train on all population data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4292600" y="7429500"/>
            <a:ext cx="762000" cy="0"/>
          </a:xfrm>
          <a:prstGeom prst="straightConnector1">
            <a:avLst/>
          </a:prstGeom>
          <a:noFill/>
          <a:ln w="25400">
            <a:solidFill>
              <a:srgbClr val="275829"/>
            </a:solidFill>
            <a:prstDash val="solid"/>
            <a:headEnd type="none"/>
            <a:tailEnd type="arrow"/>
          </a:ln>
        </p:spPr>
      </p:sp>
      <p:sp>
        <p:nvSpPr>
          <p:cNvPr id="27" name="Shape 22"/>
          <p:cNvSpPr/>
          <p:nvPr/>
        </p:nvSpPr>
        <p:spPr>
          <a:xfrm>
            <a:off x="5181600" y="7175500"/>
            <a:ext cx="3556000" cy="762000"/>
          </a:xfrm>
          <a:prstGeom prst="roundRect">
            <a:avLst>
              <a:gd name="adj" fmla="val 8000"/>
            </a:avLst>
          </a:prstGeom>
          <a:solidFill>
            <a:srgbClr val="61BB45"/>
          </a:solidFill>
        </p:spPr>
      </p:sp>
      <p:sp>
        <p:nvSpPr>
          <p:cNvPr id="28" name="Text 23"/>
          <p:cNvSpPr/>
          <p:nvPr/>
        </p:nvSpPr>
        <p:spPr>
          <a:xfrm>
            <a:off x="5181600" y="7175500"/>
            <a:ext cx="3556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2. Fine-tune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Freeze encoder, update head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8864600" y="7429500"/>
            <a:ext cx="762000" cy="0"/>
          </a:xfrm>
          <a:prstGeom prst="straightConnector1">
            <a:avLst/>
          </a:prstGeom>
          <a:noFill/>
          <a:ln w="25400">
            <a:solidFill>
              <a:srgbClr val="275829"/>
            </a:solidFill>
            <a:prstDash val="solid"/>
            <a:headEnd type="none"/>
            <a:tailEnd type="arrow"/>
          </a:ln>
        </p:spPr>
      </p:sp>
      <p:sp>
        <p:nvSpPr>
          <p:cNvPr id="30" name="Shape 25"/>
          <p:cNvSpPr/>
          <p:nvPr/>
        </p:nvSpPr>
        <p:spPr>
          <a:xfrm>
            <a:off x="9753600" y="7175500"/>
            <a:ext cx="3556000" cy="762000"/>
          </a:xfrm>
          <a:prstGeom prst="roundRect">
            <a:avLst>
              <a:gd name="adj" fmla="val 8000"/>
            </a:avLst>
          </a:prstGeom>
          <a:solidFill>
            <a:srgbClr val="275829"/>
          </a:solidFill>
        </p:spPr>
      </p:sp>
      <p:sp>
        <p:nvSpPr>
          <p:cNvPr id="31" name="Text 26"/>
          <p:cNvSpPr/>
          <p:nvPr/>
        </p:nvSpPr>
        <p:spPr>
          <a:xfrm>
            <a:off x="9753600" y="7175500"/>
            <a:ext cx="3556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3. Personalized Model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Ready for prediction</a:t>
            </a:r>
            <a:endParaRPr lang="en-US" sz="1600" dirty="0"/>
          </a:p>
        </p:txBody>
      </p:sp>
      <p:grpSp>
        <p:nvGrpSpPr>
          <p:cNvPr id="32" name="组合 31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33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34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5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6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7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8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9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0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1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42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43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727075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655955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Transfer Learning Results and Waveform Improvement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pic>
        <p:nvPicPr>
          <p:cNvPr id="20" name="Image 2" descr="https://kimi-img.moonshot.cn/pub/slides/okc/wc2nv4gztwxge/mnt/agents/output/cgm_thesis/images/fig5_2_transfer_s124.png"/>
          <p:cNvPicPr>
            <a:picLocks noChangeAspect="1"/>
          </p:cNvPicPr>
          <p:nvPr/>
        </p:nvPicPr>
        <p:blipFill>
          <a:blip r:embed="rId4"/>
          <a:srcRect l="-19578" r="-19578"/>
          <a:stretch>
            <a:fillRect/>
          </a:stretch>
        </p:blipFill>
        <p:spPr>
          <a:xfrm>
            <a:off x="609600" y="2476500"/>
            <a:ext cx="7366000" cy="3302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9600" y="5842000"/>
            <a:ext cx="7366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5.2 Subject 124: RMSE improved 34.08%</a:t>
            </a:r>
            <a:endParaRPr lang="en-US" sz="1600" dirty="0"/>
          </a:p>
        </p:txBody>
      </p:sp>
      <p:pic>
        <p:nvPicPr>
          <p:cNvPr id="22" name="Image 3" descr="https://kimi-img.moonshot.cn/pub/slides/okc/wc2nv4gztwxge/mnt/agents/output/cgm_thesis/images/fig5_3_transfer_s146.png"/>
          <p:cNvPicPr>
            <a:picLocks noChangeAspect="1"/>
          </p:cNvPicPr>
          <p:nvPr/>
        </p:nvPicPr>
        <p:blipFill>
          <a:blip r:embed="rId5"/>
          <a:srcRect l="-19578" r="-19578"/>
          <a:stretch>
            <a:fillRect/>
          </a:stretch>
        </p:blipFill>
        <p:spPr>
          <a:xfrm>
            <a:off x="8382000" y="2476500"/>
            <a:ext cx="7366000" cy="33020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82000" y="5842000"/>
            <a:ext cx="7366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5.3 Subject 146: RMSE improved 30.82%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09600" y="6350000"/>
            <a:ext cx="6985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Table 5.3 Transfer Learning on 10 Subjects (RMSE)</a:t>
            </a:r>
            <a:endParaRPr lang="en-US" sz="1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/>
        </p:nvGraphicFramePr>
        <p:xfrm>
          <a:off x="609600" y="6858000"/>
          <a:ext cx="14986000" cy="1778000"/>
        </p:xfrm>
        <a:graphic>
          <a:graphicData uri="http://schemas.openxmlformats.org/drawingml/2006/table">
            <a:tbl>
              <a:tblPr/>
              <a:tblGrid>
                <a:gridCol w="1348740"/>
                <a:gridCol w="1348740"/>
                <a:gridCol w="1348740"/>
                <a:gridCol w="1348740"/>
                <a:gridCol w="1348740"/>
                <a:gridCol w="1348740"/>
                <a:gridCol w="1348740"/>
                <a:gridCol w="1348740"/>
                <a:gridCol w="1348740"/>
                <a:gridCol w="1348740"/>
                <a:gridCol w="1498600"/>
              </a:tblGrid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ID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2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27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49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71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98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124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146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170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192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306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Baseline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6.42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4.41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8.40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4.91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6.51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4.77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5.59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5.13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4.47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13.59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Improve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+18.9%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+16.6%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+9.2%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+35.5%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+1.4%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+34.1%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+30.8%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+19.6%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+32.3%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+6.6%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6" name="Text 19"/>
          <p:cNvSpPr/>
          <p:nvPr/>
        </p:nvSpPr>
        <p:spPr>
          <a:xfrm>
            <a:off x="609600" y="8763000"/>
            <a:ext cx="14986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Average RMSE reduction across 10 subjects: 20.35%</a:t>
            </a:r>
            <a:endParaRPr lang="en-US" sz="1600" dirty="0"/>
          </a:p>
        </p:txBody>
      </p:sp>
      <p:grpSp>
        <p:nvGrpSpPr>
          <p:cNvPr id="27" name="组合 26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8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9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0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1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2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3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4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5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6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7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8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7366000" y="2540000"/>
            <a:ext cx="1270000" cy="1270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5" name="Text 2"/>
          <p:cNvSpPr/>
          <p:nvPr/>
        </p:nvSpPr>
        <p:spPr>
          <a:xfrm>
            <a:off x="7366000" y="2540000"/>
            <a:ext cx="1270000" cy="1270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05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66000" y="4064000"/>
            <a:ext cx="889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Meta-Transfer Learning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66000" y="4953000"/>
            <a:ext cx="1524000" cy="50800"/>
          </a:xfrm>
          <a:prstGeom prst="rect">
            <a:avLst/>
          </a:prstGeom>
          <a:solidFill>
            <a:srgbClr val="61BB45"/>
          </a:solidFill>
        </p:spPr>
      </p:sp>
      <p:sp>
        <p:nvSpPr>
          <p:cNvPr id="8" name="Text 5"/>
          <p:cNvSpPr/>
          <p:nvPr/>
        </p:nvSpPr>
        <p:spPr>
          <a:xfrm>
            <a:off x="7366000" y="5207000"/>
            <a:ext cx="8128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20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FOMAML framework for extreme few-shot personalization (30-50 samples)</a:t>
            </a:r>
            <a:endParaRPr lang="en-US" sz="1600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>
            <a:alphaModFix amt="20000"/>
          </a:blip>
          <a:srcRect l="8072" r="82261" b="25125"/>
          <a:stretch>
            <a:fillRect/>
          </a:stretch>
        </p:blipFill>
        <p:spPr>
          <a:xfrm>
            <a:off x="0" y="635"/>
            <a:ext cx="6118225" cy="91433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19"/>
          <p:cNvSpPr/>
          <p:nvPr/>
        </p:nvSpPr>
        <p:spPr>
          <a:xfrm>
            <a:off x="504825" y="5600065"/>
            <a:ext cx="2616835" cy="475615"/>
          </a:xfrm>
          <a:prstGeom prst="roundRect">
            <a:avLst>
              <a:gd name="adj" fmla="val 8000"/>
            </a:avLst>
          </a:prstGeom>
          <a:solidFill>
            <a:schemeClr val="accent6">
              <a:lumMod val="75000"/>
            </a:schemeClr>
          </a:solidFill>
        </p:spPr>
      </p:sp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952500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881380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Clinical Dilemma: Extreme Few-Shot Scenario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Shape 16"/>
          <p:cNvSpPr/>
          <p:nvPr/>
        </p:nvSpPr>
        <p:spPr>
          <a:xfrm>
            <a:off x="609600" y="2476500"/>
            <a:ext cx="14986000" cy="1016000"/>
          </a:xfrm>
          <a:prstGeom prst="roundRect">
            <a:avLst>
              <a:gd name="adj" fmla="val 8000"/>
            </a:avLst>
          </a:prstGeom>
          <a:solidFill>
            <a:srgbClr val="E74C3C">
              <a:alpha val="8235"/>
            </a:srgbClr>
          </a:solidFill>
        </p:spPr>
      </p:sp>
      <p:sp>
        <p:nvSpPr>
          <p:cNvPr id="21" name="Text 17"/>
          <p:cNvSpPr/>
          <p:nvPr/>
        </p:nvSpPr>
        <p:spPr>
          <a:xfrm>
            <a:off x="863600" y="2603500"/>
            <a:ext cx="14478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What if only one day data is available? 30-50 samples (~2.5 hours)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09600" y="3810000"/>
            <a:ext cx="7112000" cy="381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Standard transfer learning fails: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Prediction head cannot move far enough from pre-trained weights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Standard pre-training optimizes average loss across all subjects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Not close to best weights for any one person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sz="1700" b="1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Meta-learning solution:</a:t>
            </a:r>
            <a:endParaRPr lang="en-US" sz="16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Instead of optimizing for average fit, optimize initialization for rapid adaptation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Find parameter point where a few gradient steps produce large error drop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8128000" y="3810000"/>
            <a:ext cx="7493000" cy="3810000"/>
          </a:xfrm>
          <a:prstGeom prst="roundRect">
            <a:avLst>
              <a:gd name="adj" fmla="val 8000"/>
            </a:avLst>
          </a:prstGeom>
          <a:solidFill>
            <a:srgbClr val="275829">
              <a:alpha val="6275"/>
            </a:srgbClr>
          </a:solidFill>
        </p:spPr>
      </p:sp>
      <p:sp>
        <p:nvSpPr>
          <p:cNvPr id="24" name="Text 20"/>
          <p:cNvSpPr/>
          <p:nvPr/>
        </p:nvSpPr>
        <p:spPr>
          <a:xfrm>
            <a:off x="8382000" y="4000500"/>
            <a:ext cx="6985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FOMAML Key Difference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382000" y="4508500"/>
            <a:ext cx="6985000" cy="2921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Standard Pre-training: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Minimize average loss: θ* = argmin ΣL(f_θ, D_i)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FOMAML: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Optimize for fast adaptation: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θ* = argmin ΣL(f_θ', D_i^query)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where θ' = θ - α∇L(f_θ, D_i^support)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Outer objective evaluates performance AFTER adaptation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609600" y="7937500"/>
            <a:ext cx="14986000" cy="508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First-Order approximation eliminates Hessian computation - suitable for resource-limited devices</a:t>
            </a:r>
            <a:endParaRPr lang="en-US" sz="1600" dirty="0"/>
          </a:p>
        </p:txBody>
      </p:sp>
      <p:grpSp>
        <p:nvGrpSpPr>
          <p:cNvPr id="27" name="组合 26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8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9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0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1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2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3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4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5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6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7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8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952500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881380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FOMAML Framework and Implementation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pic>
        <p:nvPicPr>
          <p:cNvPr id="20" name="Image 2" descr="https://kimi-img.moonshot.cn/pub/slides/okc/wc2nv4gztwxge/mnt/agents/output/cgm_thesis/images/fig6_1_fomaml_framework.png"/>
          <p:cNvPicPr>
            <a:picLocks noChangeAspect="1"/>
          </p:cNvPicPr>
          <p:nvPr/>
        </p:nvPicPr>
        <p:blipFill>
          <a:blip r:embed="rId4"/>
          <a:srcRect t="-10189" b="-10189"/>
          <a:stretch>
            <a:fillRect/>
          </a:stretch>
        </p:blipFill>
        <p:spPr>
          <a:xfrm>
            <a:off x="609600" y="2476500"/>
            <a:ext cx="8890000" cy="5842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9600" y="8382000"/>
            <a:ext cx="8890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6.1 FOMAML algorithm framework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9906000" y="2476500"/>
            <a:ext cx="5588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Meta-Training Config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9906000" y="3048000"/>
            <a:ext cx="5588000" cy="279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Iterations: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1000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Meta learning rate: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1e-4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Task batch size: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8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Inner loop steps: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5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Inner loop lr: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1e-3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Support/Query size: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64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Warm Start: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Initialize with pre-trained Transformer weights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9906000" y="5842000"/>
            <a:ext cx="5588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Task Definition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9906000" y="6413500"/>
            <a:ext cx="5588000" cy="2095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Each subject = independent task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Support Set: small subset for adaptation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Query Set: evaluate adaptation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800"/>
              </a:spcBef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Meta-objective: learn initialization enabling rapid adaptation to any new task</a:t>
            </a:r>
            <a:endParaRPr lang="en-US" sz="1600" dirty="0"/>
          </a:p>
        </p:txBody>
      </p:sp>
      <p:grpSp>
        <p:nvGrpSpPr>
          <p:cNvPr id="26" name="组合 25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7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8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9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0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1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2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3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4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5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6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7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952500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881380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Learning Curves: Basic vs Meta Transfer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pic>
        <p:nvPicPr>
          <p:cNvPr id="20" name="Image 2" descr="https://kimi-img.moonshot.cn/pub/slides/okc/wc2nv4gztwxge/mnt/agents/output/cgm_thesis/images/fig6_2_learning_curve.png"/>
          <p:cNvPicPr>
            <a:picLocks noChangeAspect="1"/>
          </p:cNvPicPr>
          <p:nvPr/>
        </p:nvPicPr>
        <p:blipFill>
          <a:blip r:embed="rId4"/>
          <a:srcRect l="-6680" r="-6680"/>
          <a:stretch>
            <a:fillRect/>
          </a:stretch>
        </p:blipFill>
        <p:spPr>
          <a:xfrm>
            <a:off x="609600" y="2476500"/>
            <a:ext cx="8890000" cy="508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9600" y="7620000"/>
            <a:ext cx="8890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6.2 Learning curve: Basic Transfer vs Meta Transfer (Subject 124)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9906000" y="2476500"/>
            <a:ext cx="5588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9906000" y="3048000"/>
            <a:ext cx="5588000" cy="342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 &lt; 100 samples: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MAE reduced by </a:t>
            </a:r>
            <a:r>
              <a:rPr lang="en-US" sz="16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25.67%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on average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 &lt; 40 samples: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MAE dropped by </a:t>
            </a:r>
            <a:r>
              <a:rPr lang="en-US" sz="1600" b="1" dirty="0">
                <a:solidFill>
                  <a:srgbClr val="E74C3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31.58%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 &gt; 150 samples: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Two methods converge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Value of meta-learning specifically in low-sample regime where starting point matters most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9906000" y="6477000"/>
            <a:ext cx="558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Table 6.2 N=30 Comparison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/>
        </p:nvGraphicFramePr>
        <p:xfrm>
          <a:off x="9906000" y="6921500"/>
          <a:ext cx="5588000" cy="1397000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99920"/>
              </a:tblGrid>
              <a:tr h="415324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Metric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Basic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Meta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BB45">
                        <a:alpha val="45882"/>
                      </a:srgbClr>
                    </a:solidFill>
                  </a:tcPr>
                </a:tc>
              </a:tr>
              <a:tr h="490838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MAE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5.94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5.38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0838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002C1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RMSE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62626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6.49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74C3C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6.21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C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grpSp>
        <p:nvGrpSpPr>
          <p:cNvPr id="25" name="组合 24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6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7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9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0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1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2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3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4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5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6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7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952500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8813800" y="1104900"/>
            <a:ext cx="16383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Few-Shot Waveform Consistency Analysis (N=30)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pic>
        <p:nvPicPr>
          <p:cNvPr id="20" name="Image 2" descr="https://kimi-img.moonshot.cn/pub/slides/okc/wc2nv4gztwxge/mnt/agents/output/cgm_thesis/images/fig6_3_meta_vs_basic_s124.png"/>
          <p:cNvPicPr>
            <a:picLocks noChangeAspect="1"/>
          </p:cNvPicPr>
          <p:nvPr/>
        </p:nvPicPr>
        <p:blipFill>
          <a:blip r:embed="rId4"/>
          <a:srcRect l="-5882" r="-5882"/>
          <a:stretch>
            <a:fillRect/>
          </a:stretch>
        </p:blipFill>
        <p:spPr>
          <a:xfrm>
            <a:off x="609600" y="2476500"/>
            <a:ext cx="10160000" cy="508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9600" y="7620000"/>
            <a:ext cx="10160000" cy="317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Figure 6.3 Prediction comparison on Subject 124 with only 30 samples (~2.5 hours)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11176000" y="2476500"/>
            <a:ext cx="4318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Detailed Observations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11176000" y="3048000"/>
            <a:ext cx="4318000" cy="406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Rapid rise (post-meal):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Meta Transfer tracks peak accurately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Basic Transfer shows overshoot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Change points: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Meta Transfer responds faster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Significantly reduced phase lag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Stable phase: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Similar average performance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Meta Transfer has smaller variance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Meta Transfer: lower error + more stable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609600" y="8128000"/>
            <a:ext cx="14986000" cy="635000"/>
          </a:xfrm>
          <a:prstGeom prst="roundRect">
            <a:avLst>
              <a:gd name="adj" fmla="val 8000"/>
            </a:avLst>
          </a:prstGeom>
          <a:solidFill>
            <a:srgbClr val="275829">
              <a:alpha val="6275"/>
            </a:srgbClr>
          </a:solidFill>
        </p:spPr>
      </p:sp>
      <p:sp>
        <p:nvSpPr>
          <p:cNvPr id="25" name="Text 20"/>
          <p:cNvSpPr/>
          <p:nvPr/>
        </p:nvSpPr>
        <p:spPr>
          <a:xfrm>
            <a:off x="863600" y="8255000"/>
            <a:ext cx="14478000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Meta Transfer not only reduces average error but also reduces error fluctuation</a:t>
            </a:r>
            <a:endParaRPr lang="en-US" sz="1600" dirty="0"/>
          </a:p>
        </p:txBody>
      </p:sp>
      <p:grpSp>
        <p:nvGrpSpPr>
          <p:cNvPr id="26" name="组合 25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27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28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29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0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1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32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3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4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5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36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37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7366000" y="2540000"/>
            <a:ext cx="1270000" cy="1270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5" name="Text 2"/>
          <p:cNvSpPr/>
          <p:nvPr/>
        </p:nvSpPr>
        <p:spPr>
          <a:xfrm>
            <a:off x="7366000" y="2540000"/>
            <a:ext cx="1270000" cy="1270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06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66000" y="4064000"/>
            <a:ext cx="889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66000" y="4953000"/>
            <a:ext cx="1524000" cy="50800"/>
          </a:xfrm>
          <a:prstGeom prst="rect">
            <a:avLst/>
          </a:prstGeom>
          <a:solidFill>
            <a:srgbClr val="61BB45"/>
          </a:solidFill>
        </p:spPr>
      </p:sp>
      <p:sp>
        <p:nvSpPr>
          <p:cNvPr id="8" name="Text 5"/>
          <p:cNvSpPr/>
          <p:nvPr/>
        </p:nvSpPr>
        <p:spPr>
          <a:xfrm>
            <a:off x="7366000" y="5207000"/>
            <a:ext cx="8128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20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Core contributions summary and future directions</a:t>
            </a:r>
            <a:endParaRPr lang="en-US" sz="1600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>
            <a:alphaModFix amt="20000"/>
          </a:blip>
          <a:srcRect l="8072" r="82261" b="25125"/>
          <a:stretch>
            <a:fillRect/>
          </a:stretch>
        </p:blipFill>
        <p:spPr>
          <a:xfrm>
            <a:off x="0" y="635"/>
            <a:ext cx="6118225" cy="91433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557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" name="Shape 1"/>
          <p:cNvSpPr/>
          <p:nvPr/>
        </p:nvSpPr>
        <p:spPr>
          <a:xfrm>
            <a:off x="11811000" y="939800"/>
            <a:ext cx="215900" cy="165100"/>
          </a:xfrm>
          <a:prstGeom prst="triangle">
            <a:avLst>
              <a:gd name="adj" fmla="val 50000"/>
            </a:avLst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11099800" y="1104900"/>
            <a:ext cx="1524000" cy="1016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6" name="Image 0" descr="https://kimi-img.moonshot.cn/pub/slides/okc/wc2nv4gztwxge/mnt/agents/output/template_convert/images/image_5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57100" y="228600"/>
            <a:ext cx="3632200" cy="698500"/>
          </a:xfrm>
          <a:prstGeom prst="rect">
            <a:avLst/>
          </a:prstGeom>
        </p:spPr>
      </p:pic>
      <p:pic>
        <p:nvPicPr>
          <p:cNvPr id="17" name="Image 1" descr="https://kimi-img.moonshot.cn/pub/slides/okc/wc2nv4gztwxge/mnt/agents/output/template_convert/images/image_2.png"/>
          <p:cNvPicPr>
            <a:picLocks noChangeAspect="1"/>
          </p:cNvPicPr>
          <p:nvPr/>
        </p:nvPicPr>
        <p:blipFill>
          <a:blip r:embed="rId3"/>
          <a:srcRect r="87360"/>
          <a:stretch>
            <a:fillRect/>
          </a:stretch>
        </p:blipFill>
        <p:spPr>
          <a:xfrm>
            <a:off x="12331700" y="228600"/>
            <a:ext cx="673100" cy="711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1397000"/>
            <a:ext cx="1524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275829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rPr>
              <a:t>Core Scientific Contributions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09600" y="2159000"/>
            <a:ext cx="14986000" cy="0"/>
          </a:xfrm>
          <a:prstGeom prst="line">
            <a:avLst/>
          </a:prstGeom>
          <a:noFill/>
          <a:ln w="15875">
            <a:solidFill>
              <a:srgbClr val="275829"/>
            </a:solidFill>
            <a:prstDash val="solid"/>
            <a:headEnd type="none"/>
            <a:tailEnd type="none"/>
          </a:ln>
        </p:spPr>
      </p:sp>
      <p:sp>
        <p:nvSpPr>
          <p:cNvPr id="20" name="Shape 16"/>
          <p:cNvSpPr/>
          <p:nvPr/>
        </p:nvSpPr>
        <p:spPr>
          <a:xfrm>
            <a:off x="609600" y="24765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25400">
            <a:solidFill>
              <a:srgbClr val="27582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63600" y="2667000"/>
            <a:ext cx="635000" cy="635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22" name="Text 18"/>
          <p:cNvSpPr/>
          <p:nvPr/>
        </p:nvSpPr>
        <p:spPr>
          <a:xfrm>
            <a:off x="863600" y="2667000"/>
            <a:ext cx="635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1651000" y="2667000"/>
            <a:ext cx="3429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Preprocess Pipeline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863600" y="3492500"/>
            <a:ext cx="419100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Sy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562600" y="24765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25400">
            <a:solidFill>
              <a:srgbClr val="275829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816600" y="2667000"/>
            <a:ext cx="635000" cy="635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27" name="Text 23"/>
          <p:cNvSpPr/>
          <p:nvPr/>
        </p:nvSpPr>
        <p:spPr>
          <a:xfrm>
            <a:off x="5816600" y="2667000"/>
            <a:ext cx="635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6604000" y="2667000"/>
            <a:ext cx="3429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Transformer Base Model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5816600" y="3492500"/>
            <a:ext cx="419100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Overcomes phase lag via self-attention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O(1) long-range dependency modeling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Modular architecture for transfer learning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8 models systematically compared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10515600" y="2476500"/>
            <a:ext cx="5080000" cy="3302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25400">
            <a:solidFill>
              <a:srgbClr val="27582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0769600" y="2667000"/>
            <a:ext cx="635000" cy="635000"/>
          </a:xfrm>
          <a:prstGeom prst="rect">
            <a:avLst/>
          </a:prstGeom>
          <a:solidFill>
            <a:srgbClr val="275829"/>
          </a:solidFill>
        </p:spPr>
      </p:sp>
      <p:sp>
        <p:nvSpPr>
          <p:cNvPr id="32" name="Text 28"/>
          <p:cNvSpPr/>
          <p:nvPr/>
        </p:nvSpPr>
        <p:spPr>
          <a:xfrm>
            <a:off x="10769600" y="2667000"/>
            <a:ext cx="635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11557000" y="2667000"/>
            <a:ext cx="381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FOMAML Few-Shot Learning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10769600" y="3492500"/>
            <a:ext cx="457200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Personalization from 30-50 samples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MAE reduction 31.58% in extreme cases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Edge-device instant personalization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Privacy-preserving local deployment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609600" y="6223000"/>
            <a:ext cx="508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Engineering Value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609600" y="6794500"/>
            <a:ext cx="14986000" cy="2032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7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"Cloud pre-training + local fine-tuning"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architecture: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Cloud: Train general model on population data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Device: Download pre-trained model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Local: Fine-tune with user's first 2.5 hours of data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• Result: Personalized predictions from day one, no data uploaded to cloud</a:t>
            </a:r>
            <a:endParaRPr lang="en-US" sz="1600" dirty="0"/>
          </a:p>
        </p:txBody>
      </p:sp>
      <p:grpSp>
        <p:nvGrpSpPr>
          <p:cNvPr id="61" name="组合 60"/>
          <p:cNvGrpSpPr/>
          <p:nvPr/>
        </p:nvGrpSpPr>
        <p:grpSpPr>
          <a:xfrm>
            <a:off x="0" y="317500"/>
            <a:ext cx="12098020" cy="508000"/>
            <a:chOff x="0" y="500"/>
            <a:chExt cx="19052" cy="800"/>
          </a:xfrm>
        </p:grpSpPr>
        <p:sp>
          <p:nvSpPr>
            <p:cNvPr id="62" name="Text 3"/>
            <p:cNvSpPr/>
            <p:nvPr/>
          </p:nvSpPr>
          <p:spPr>
            <a:xfrm>
              <a:off x="0" y="520"/>
              <a:ext cx="258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Background</a:t>
              </a:r>
              <a:endParaRPr lang="en-US" sz="2000" dirty="0"/>
            </a:p>
          </p:txBody>
        </p:sp>
        <p:sp>
          <p:nvSpPr>
            <p:cNvPr id="63" name="Shape 4"/>
            <p:cNvSpPr/>
            <p:nvPr/>
          </p:nvSpPr>
          <p:spPr>
            <a:xfrm>
              <a:off x="27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64" name="Text 5"/>
            <p:cNvSpPr/>
            <p:nvPr/>
          </p:nvSpPr>
          <p:spPr>
            <a:xfrm>
              <a:off x="2432" y="520"/>
              <a:ext cx="44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uFill>
                    <a:solidFill>
                      <a:srgbClr val="000000"/>
                    </a:solidFill>
                  </a:u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Data Processing</a:t>
              </a:r>
              <a:endParaRPr lang="en-US" sz="2000" dirty="0">
                <a:solidFill>
                  <a:srgbClr val="FFFFFF"/>
                </a:solidFill>
                <a:uFill>
                  <a:solidFill>
                    <a:srgbClr val="000000"/>
                  </a:solidFill>
                </a:u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65" name="Shape 6"/>
            <p:cNvSpPr/>
            <p:nvPr/>
          </p:nvSpPr>
          <p:spPr>
            <a:xfrm>
              <a:off x="6508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66" name="Text 7"/>
            <p:cNvSpPr/>
            <p:nvPr/>
          </p:nvSpPr>
          <p:spPr>
            <a:xfrm>
              <a:off x="6832" y="500"/>
              <a:ext cx="27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General Models</a:t>
              </a:r>
              <a:endParaRPr lang="en-US" sz="2000" dirty="0"/>
            </a:p>
          </p:txBody>
        </p:sp>
        <p:sp>
          <p:nvSpPr>
            <p:cNvPr id="67" name="Shape 8"/>
            <p:cNvSpPr/>
            <p:nvPr/>
          </p:nvSpPr>
          <p:spPr>
            <a:xfrm>
              <a:off x="98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68" name="Text 9"/>
            <p:cNvSpPr/>
            <p:nvPr/>
          </p:nvSpPr>
          <p:spPr>
            <a:xfrm>
              <a:off x="10220" y="500"/>
              <a:ext cx="28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Transfer Learning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69" name="Shape 10"/>
            <p:cNvSpPr/>
            <p:nvPr/>
          </p:nvSpPr>
          <p:spPr>
            <a:xfrm>
              <a:off x="13514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70" name="Text 11"/>
            <p:cNvSpPr/>
            <p:nvPr/>
          </p:nvSpPr>
          <p:spPr>
            <a:xfrm>
              <a:off x="13364" y="500"/>
              <a:ext cx="40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Meta-Transfer</a:t>
              </a:r>
              <a:endParaRPr lang="en-US" sz="2000" dirty="0">
                <a:solidFill>
                  <a:srgbClr val="FFFFFF"/>
                </a:solidFill>
                <a:latin typeface="Calibri, MiSans" pitchFamily="34" charset="0"/>
                <a:ea typeface="Calibri, MiSans" pitchFamily="34" charset="-122"/>
                <a:cs typeface="Calibri, MiSans" pitchFamily="34" charset="-120"/>
              </a:endParaRPr>
            </a:p>
          </p:txBody>
        </p:sp>
        <p:sp>
          <p:nvSpPr>
            <p:cNvPr id="71" name="Shape 12"/>
            <p:cNvSpPr/>
            <p:nvPr/>
          </p:nvSpPr>
          <p:spPr>
            <a:xfrm>
              <a:off x="16976" y="520"/>
              <a:ext cx="0" cy="620"/>
            </a:xfrm>
            <a:prstGeom prst="line">
              <a:avLst/>
            </a:prstGeom>
            <a:noFill/>
            <a:ln w="12700">
              <a:solidFill>
                <a:srgbClr val="FFFFFF"/>
              </a:solidFill>
              <a:prstDash val="solid"/>
              <a:headEnd type="none"/>
              <a:tailEnd type="none"/>
            </a:ln>
          </p:spPr>
        </p:sp>
        <p:sp>
          <p:nvSpPr>
            <p:cNvPr id="72" name="Text 13"/>
            <p:cNvSpPr/>
            <p:nvPr/>
          </p:nvSpPr>
          <p:spPr>
            <a:xfrm>
              <a:off x="17152" y="500"/>
              <a:ext cx="1900" cy="780"/>
            </a:xfrm>
            <a:prstGeom prst="rect">
              <a:avLst/>
            </a:prstGeom>
            <a:noFill/>
          </p:spPr>
          <p:txBody>
            <a:bodyPr wrap="none" lIns="0" tIns="0" rIns="0" bIns="0" rtlCol="0" anchor="t"/>
            <a:lstStyle/>
            <a:p>
              <a:pPr algn="ctr">
                <a:lnSpc>
                  <a:spcPct val="100000"/>
                </a:lnSpc>
              </a:pPr>
              <a:r>
                <a:rPr lang="en-US" sz="2000" dirty="0">
                  <a:solidFill>
                    <a:srgbClr val="FFFFFF"/>
                  </a:solidFill>
                  <a:latin typeface="Calibri, MiSans" pitchFamily="34" charset="0"/>
                  <a:ea typeface="Calibri, MiSans" pitchFamily="34" charset="-122"/>
                  <a:cs typeface="Calibri, MiSans" pitchFamily="34" charset="-120"/>
                </a:rPr>
                <a:t>Conclusion</a:t>
              </a:r>
              <a:endParaRPr lang="en-US" sz="2000" dirty="0"/>
            </a:p>
          </p:txBody>
        </p:sp>
      </p:grpSp>
    </p:spTree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7366000" y="2540000"/>
            <a:ext cx="8128000" cy="1016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200" b="1" dirty="0">
                <a:solidFill>
                  <a:srgbClr val="275829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366000" y="3683000"/>
            <a:ext cx="1524000" cy="50800"/>
          </a:xfrm>
          <a:prstGeom prst="rect">
            <a:avLst/>
          </a:prstGeom>
          <a:solidFill>
            <a:srgbClr val="61BB45"/>
          </a:solidFill>
        </p:spPr>
      </p:sp>
      <p:sp>
        <p:nvSpPr>
          <p:cNvPr id="6" name="Text 3"/>
          <p:cNvSpPr/>
          <p:nvPr/>
        </p:nvSpPr>
        <p:spPr>
          <a:xfrm>
            <a:off x="7366000" y="3937000"/>
            <a:ext cx="812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7F7F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Questions &amp; Answers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66000" y="5080000"/>
            <a:ext cx="812800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Jiang Yijun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Department of Electrical and Computer Engineering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University of Hong Kong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Supervisor: Prof. Shiming Zhang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July 2026</a:t>
            </a:r>
            <a:endParaRPr lang="en-US" sz="1600" dirty="0"/>
          </a:p>
        </p:txBody>
      </p:sp>
      <p:pic>
        <p:nvPicPr>
          <p:cNvPr id="8" name="Image 1" descr="https://kimi-img.moonshot.cn/pub/slides/okc/wc2nv4gztwxge/mnt/agents/output/template_convert/images/image_3.png"/>
          <p:cNvPicPr>
            <a:picLocks noChangeAspect="1"/>
          </p:cNvPicPr>
          <p:nvPr/>
        </p:nvPicPr>
        <p:blipFill>
          <a:blip r:embed="rId1"/>
          <a:srcRect l="-6227" r="-6227"/>
          <a:stretch>
            <a:fillRect/>
          </a:stretch>
        </p:blipFill>
        <p:spPr>
          <a:xfrm>
            <a:off x="7366000" y="7366000"/>
            <a:ext cx="3556000" cy="63500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>
            <a:alphaModFix amt="20000"/>
          </a:blip>
          <a:srcRect l="8072" r="82261" b="25125"/>
          <a:stretch>
            <a:fillRect/>
          </a:stretch>
        </p:blipFill>
        <p:spPr>
          <a:xfrm>
            <a:off x="0" y="635"/>
            <a:ext cx="6118225" cy="91433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16470</Words>
  <Application>WPS 演示</Application>
  <PresentationFormat>On-screen Show (16:9)</PresentationFormat>
  <Paragraphs>1034</Paragraphs>
  <Slides>31</Slides>
  <Notes>31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48" baseType="lpstr">
      <vt:lpstr>Arial</vt:lpstr>
      <vt:lpstr>宋体</vt:lpstr>
      <vt:lpstr>Wingdings</vt:lpstr>
      <vt:lpstr>Arial</vt:lpstr>
      <vt:lpstr>Arial</vt:lpstr>
      <vt:lpstr>Calibri, MiSans</vt:lpstr>
      <vt:lpstr>MiSans</vt:lpstr>
      <vt:lpstr>Calibri, MiSans</vt:lpstr>
      <vt:lpstr>Calibri, MiSans</vt:lpstr>
      <vt:lpstr>Calibri</vt:lpstr>
      <vt:lpstr>微软雅黑</vt:lpstr>
      <vt:lpstr>Arial Unicode MS</vt:lpstr>
      <vt:lpstr>等线</vt:lpstr>
      <vt:lpstr>Cambria Math</vt:lpstr>
      <vt:lpstr>MS PGothic</vt:lpstr>
      <vt:lpstr>MiSans Normal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Blood Glucose Prediction Model Applicable to Continuous Glucose Monitoring Systems</dc:title>
  <dc:creator>Kimi</dc:creator>
  <dc:subject>Blood Glucose Prediction Model Applicable to Continuous Glucose Monitoring Systems</dc:subject>
  <cp:lastModifiedBy>Jungle</cp:lastModifiedBy>
  <cp:revision>9</cp:revision>
  <dcterms:created xsi:type="dcterms:W3CDTF">2026-05-03T04:50:00Z</dcterms:created>
  <dcterms:modified xsi:type="dcterms:W3CDTF">2026-05-13T17:52:42Z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{"Label":"Blood Glucose Prediction Model Applicable to Continuous Glucose Monitoring Systems","ContentProducer":"001191110108MACG2KBH8F10000","ProduceID":"19dea081-4ff2-8481-8000-000032ce69d1","ReservedCode1":"","ContentPropagator":"001191110108MACG2KBH8F20000","PropagateID":"19dea081-4ff2-8481-8000-000032ce69d1","ReservedCode2":""}</vt:lpwstr>
  </property>
  <property fmtid="{D5CDD505-2E9C-101B-9397-08002B2CF9AE}" pid="3" name="ICV">
    <vt:lpwstr>2193B024AFA24B6F918A72096356DA87_12</vt:lpwstr>
  </property>
  <property fmtid="{D5CDD505-2E9C-101B-9397-08002B2CF9AE}" pid="4" name="KSOProductBuildVer">
    <vt:lpwstr>2052-12.1.0.25865</vt:lpwstr>
  </property>
</Properties>
</file>