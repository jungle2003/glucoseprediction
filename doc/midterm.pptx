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8" r:id="rId5"/>
    <p:sldId id="261" r:id="rId6"/>
    <p:sldId id="265" r:id="rId7"/>
    <p:sldId id="267" r:id="rId8"/>
    <p:sldId id="273" r:id="rId9"/>
    <p:sldId id="274" r:id="rId10"/>
    <p:sldId id="277" r:id="rId11"/>
    <p:sldId id="278" r:id="rId12"/>
    <p:sldId id="287" r:id="rId13"/>
    <p:sldId id="282" r:id="rId14"/>
    <p:sldId id="283" r:id="rId15"/>
    <p:sldId id="285" r:id="rId16"/>
    <p:sldId id="286" r:id="rId17"/>
  </p:sldIdLst>
  <p:sldSz cx="16256000" cy="9144000"/>
  <p:notesSz cx="9144000" cy="1625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7112000" y="2794000"/>
            <a:ext cx="838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Blood Glucose Prediction Model Applicable to Continuous Glucose Monitoring Systems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7112000" y="5080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7" name="Text 3"/>
          <p:cNvSpPr/>
          <p:nvPr/>
        </p:nvSpPr>
        <p:spPr>
          <a:xfrm>
            <a:off x="7112000" y="5334000"/>
            <a:ext cx="8382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Master Thesis Defense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112000" y="6096000"/>
            <a:ext cx="8382000" cy="2413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Jiang Yijun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Supervisor:</a:t>
            </a: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Prof. Shiming Zhang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Electrical and Computer Engineering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University of Hong Kong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June 2026</a:t>
            </a: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  <p:pic>
        <p:nvPicPr>
          <p:cNvPr id="12" name="图片 11" descr="hkutl"/>
          <p:cNvPicPr>
            <a:picLocks noChangeAspect="1"/>
          </p:cNvPicPr>
          <p:nvPr/>
        </p:nvPicPr>
        <p:blipFill>
          <a:blip r:embed="rId2"/>
          <a:srcRect r="87359"/>
          <a:stretch>
            <a:fillRect/>
          </a:stretch>
        </p:blipFill>
        <p:spPr>
          <a:xfrm>
            <a:off x="5242560" y="3040380"/>
            <a:ext cx="1586230" cy="16814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id="22" name="组合 21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1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Introduction: A CGM Prediction System for Wearable Devices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cgm_watch.png"/>
          <p:cNvPicPr>
            <a:picLocks noChangeAspect="1"/>
          </p:cNvPicPr>
          <p:nvPr/>
        </p:nvPicPr>
        <p:blipFill>
          <a:blip r:embed="rId4"/>
          <a:srcRect l="21875" r="21875"/>
          <a:stretch>
            <a:fillRect/>
          </a:stretch>
        </p:blipFill>
        <p:spPr>
          <a:xfrm>
            <a:off x="609600" y="2476500"/>
            <a:ext cx="6096000" cy="6096000"/>
          </a:xfrm>
          <a:prstGeom prst="roundRect">
            <a:avLst>
              <a:gd name="adj" fmla="val 8000"/>
            </a:avLst>
          </a:prstGeom>
        </p:spPr>
      </p:pic>
      <p:sp>
        <p:nvSpPr>
          <p:cNvPr id="21" name="Text 16"/>
          <p:cNvSpPr/>
          <p:nvPr/>
        </p:nvSpPr>
        <p:spPr>
          <a:xfrm>
            <a:off x="7112000" y="2476500"/>
            <a:ext cx="8382000" cy="609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CGM becomes widely adopted (e.g., Apple Watch), what prediction system should we design?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requirements for an ideal CGM prediction system: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Real-time 30-minute ahead prediction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Accurate under rapid glucose changes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Personalized to individual physiology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Data-efficient: works with minimal calibration data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Privacy-preserving: local computation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600"/>
              </a:spcBef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thesis proposes a complete pipeline using only CGM sequences + age + BMI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meal logs, no insulin doses, no exercise records needed.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112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Challenges in CGM Data and Prediction Task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1524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591280" y="0"/>
                  <a:pt x="762000" y="170720"/>
                  <a:pt x="762000" y="381000"/>
                </a:cubicBezTo>
                <a:cubicBezTo>
                  <a:pt x="762000" y="591280"/>
                  <a:pt x="591280" y="762000"/>
                  <a:pt x="381000" y="762000"/>
                </a:cubicBezTo>
                <a:cubicBezTo>
                  <a:pt x="170720" y="762000"/>
                  <a:pt x="0" y="591280"/>
                  <a:pt x="0" y="381000"/>
                </a:cubicBezTo>
                <a:cubicBezTo>
                  <a:pt x="0" y="170720"/>
                  <a:pt x="170720" y="0"/>
                  <a:pt x="381000" y="0"/>
                </a:cubicBezTo>
                <a:close/>
                <a:moveTo>
                  <a:pt x="345281" y="178594"/>
                </a:moveTo>
                <a:lnTo>
                  <a:pt x="345281" y="381000"/>
                </a:lnTo>
                <a:cubicBezTo>
                  <a:pt x="345281" y="392906"/>
                  <a:pt x="351234" y="404068"/>
                  <a:pt x="361206" y="410766"/>
                </a:cubicBezTo>
                <a:lnTo>
                  <a:pt x="504081" y="506016"/>
                </a:lnTo>
                <a:cubicBezTo>
                  <a:pt x="520452" y="517029"/>
                  <a:pt x="542627" y="512564"/>
                  <a:pt x="553641" y="496044"/>
                </a:cubicBezTo>
                <a:cubicBezTo>
                  <a:pt x="564654" y="479524"/>
                  <a:pt x="560189" y="457498"/>
                  <a:pt x="543669" y="446484"/>
                </a:cubicBezTo>
                <a:lnTo>
                  <a:pt x="416719" y="361950"/>
                </a:lnTo>
                <a:lnTo>
                  <a:pt x="416719" y="178594"/>
                </a:lnTo>
                <a:cubicBezTo>
                  <a:pt x="416719" y="158800"/>
                  <a:pt x="400794" y="142875"/>
                  <a:pt x="381000" y="142875"/>
                </a:cubicBezTo>
                <a:cubicBezTo>
                  <a:pt x="361206" y="142875"/>
                  <a:pt x="345281" y="158800"/>
                  <a:pt x="345281" y="178594"/>
                </a:cubicBezTo>
                <a:close/>
              </a:path>
            </a:pathLst>
          </a:custGeom>
          <a:solidFill>
            <a:srgbClr val="275829"/>
          </a:solidFill>
        </p:spPr>
      </p:sp>
      <p:sp>
        <p:nvSpPr>
          <p:cNvPr id="21" name="Text 17"/>
          <p:cNvSpPr/>
          <p:nvPr/>
        </p:nvSpPr>
        <p:spPr>
          <a:xfrm>
            <a:off x="609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Physiological Delay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5-10 minute lag between interstitial fluid glucose and blood glucose. During rapid changes (post-meal, post-exercise), dynamic error becomes significant.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096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95250" y="142875"/>
                </a:moveTo>
                <a:cubicBezTo>
                  <a:pt x="95250" y="116532"/>
                  <a:pt x="116532" y="95250"/>
                  <a:pt x="142875" y="95250"/>
                </a:cubicBezTo>
                <a:lnTo>
                  <a:pt x="381000" y="95250"/>
                </a:lnTo>
                <a:cubicBezTo>
                  <a:pt x="407343" y="95250"/>
                  <a:pt x="428625" y="116532"/>
                  <a:pt x="428625" y="142875"/>
                </a:cubicBezTo>
                <a:lnTo>
                  <a:pt x="428625" y="571500"/>
                </a:lnTo>
                <a:lnTo>
                  <a:pt x="571500" y="571500"/>
                </a:lnTo>
                <a:lnTo>
                  <a:pt x="571500" y="381000"/>
                </a:lnTo>
                <a:cubicBezTo>
                  <a:pt x="571500" y="354657"/>
                  <a:pt x="592782" y="333375"/>
                  <a:pt x="619125" y="333375"/>
                </a:cubicBezTo>
                <a:lnTo>
                  <a:pt x="714375" y="333375"/>
                </a:lnTo>
                <a:cubicBezTo>
                  <a:pt x="740718" y="333375"/>
                  <a:pt x="762000" y="354657"/>
                  <a:pt x="762000" y="381000"/>
                </a:cubicBezTo>
                <a:cubicBezTo>
                  <a:pt x="762000" y="407343"/>
                  <a:pt x="740718" y="428625"/>
                  <a:pt x="714375" y="428625"/>
                </a:cubicBezTo>
                <a:lnTo>
                  <a:pt x="666750" y="428625"/>
                </a:lnTo>
                <a:lnTo>
                  <a:pt x="666750" y="619125"/>
                </a:lnTo>
                <a:cubicBezTo>
                  <a:pt x="666750" y="645468"/>
                  <a:pt x="645468" y="666750"/>
                  <a:pt x="619125" y="666750"/>
                </a:cubicBezTo>
                <a:lnTo>
                  <a:pt x="381000" y="666750"/>
                </a:lnTo>
                <a:cubicBezTo>
                  <a:pt x="354657" y="666750"/>
                  <a:pt x="333375" y="645468"/>
                  <a:pt x="333375" y="619125"/>
                </a:cubicBezTo>
                <a:lnTo>
                  <a:pt x="333375" y="190500"/>
                </a:lnTo>
                <a:lnTo>
                  <a:pt x="190500" y="190500"/>
                </a:lnTo>
                <a:lnTo>
                  <a:pt x="190500" y="381000"/>
                </a:lnTo>
                <a:cubicBezTo>
                  <a:pt x="190500" y="407343"/>
                  <a:pt x="169218" y="428625"/>
                  <a:pt x="142875" y="428625"/>
                </a:cubicBezTo>
                <a:lnTo>
                  <a:pt x="47625" y="428625"/>
                </a:lnTo>
                <a:cubicBezTo>
                  <a:pt x="21282" y="428625"/>
                  <a:pt x="0" y="407343"/>
                  <a:pt x="0" y="381000"/>
                </a:cubicBezTo>
                <a:cubicBezTo>
                  <a:pt x="0" y="354657"/>
                  <a:pt x="21282" y="333375"/>
                  <a:pt x="47625" y="333375"/>
                </a:cubicBezTo>
                <a:lnTo>
                  <a:pt x="95250" y="333375"/>
                </a:lnTo>
                <a:lnTo>
                  <a:pt x="95250" y="142875"/>
                </a:lnTo>
                <a:close/>
              </a:path>
            </a:pathLst>
          </a:custGeom>
          <a:solidFill>
            <a:srgbClr val="275829"/>
          </a:solidFill>
        </p:spPr>
      </p:sp>
      <p:sp>
        <p:nvSpPr>
          <p:cNvPr id="24" name="Text 20"/>
          <p:cNvSpPr/>
          <p:nvPr/>
        </p:nvSpPr>
        <p:spPr>
          <a:xfrm>
            <a:off x="5181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 Noise &amp; Drift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181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Electrochemical sensor degradation, motion artifacts, pressure-induced sensor attenuation (PISA), and electronic system noise.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668000" y="2667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cubicBezTo>
                  <a:pt x="402878" y="0"/>
                  <a:pt x="422970" y="12055"/>
                  <a:pt x="433388" y="31254"/>
                </a:cubicBezTo>
                <a:lnTo>
                  <a:pt x="754856" y="626566"/>
                </a:lnTo>
                <a:cubicBezTo>
                  <a:pt x="764828" y="645021"/>
                  <a:pt x="764381" y="667345"/>
                  <a:pt x="753666" y="685354"/>
                </a:cubicBezTo>
                <a:cubicBezTo>
                  <a:pt x="742950" y="703362"/>
                  <a:pt x="723454" y="714375"/>
                  <a:pt x="702469" y="714375"/>
                </a:cubicBezTo>
                <a:lnTo>
                  <a:pt x="59531" y="714375"/>
                </a:lnTo>
                <a:cubicBezTo>
                  <a:pt x="38546" y="714375"/>
                  <a:pt x="19199" y="703362"/>
                  <a:pt x="8334" y="685354"/>
                </a:cubicBezTo>
                <a:cubicBezTo>
                  <a:pt x="-2530" y="667345"/>
                  <a:pt x="-2828" y="645021"/>
                  <a:pt x="7144" y="626566"/>
                </a:cubicBezTo>
                <a:lnTo>
                  <a:pt x="328613" y="31254"/>
                </a:lnTo>
                <a:cubicBezTo>
                  <a:pt x="339030" y="12055"/>
                  <a:pt x="359122" y="0"/>
                  <a:pt x="381000" y="0"/>
                </a:cubicBezTo>
                <a:close/>
                <a:moveTo>
                  <a:pt x="381000" y="250031"/>
                </a:moveTo>
                <a:cubicBezTo>
                  <a:pt x="361206" y="250031"/>
                  <a:pt x="345281" y="265956"/>
                  <a:pt x="345281" y="285750"/>
                </a:cubicBezTo>
                <a:lnTo>
                  <a:pt x="345281" y="452438"/>
                </a:lnTo>
                <a:cubicBezTo>
                  <a:pt x="345281" y="472232"/>
                  <a:pt x="361206" y="488156"/>
                  <a:pt x="381000" y="488156"/>
                </a:cubicBezTo>
                <a:cubicBezTo>
                  <a:pt x="400794" y="488156"/>
                  <a:pt x="416719" y="472232"/>
                  <a:pt x="416719" y="452438"/>
                </a:cubicBezTo>
                <a:lnTo>
                  <a:pt x="416719" y="285750"/>
                </a:lnTo>
                <a:cubicBezTo>
                  <a:pt x="416719" y="265956"/>
                  <a:pt x="400794" y="250031"/>
                  <a:pt x="381000" y="250031"/>
                </a:cubicBezTo>
                <a:close/>
                <a:moveTo>
                  <a:pt x="420737" y="571500"/>
                </a:moveTo>
                <a:cubicBezTo>
                  <a:pt x="421641" y="556750"/>
                  <a:pt x="414285" y="542717"/>
                  <a:pt x="401641" y="535068"/>
                </a:cubicBezTo>
                <a:cubicBezTo>
                  <a:pt x="388997" y="527420"/>
                  <a:pt x="373152" y="527420"/>
                  <a:pt x="360508" y="535068"/>
                </a:cubicBezTo>
                <a:cubicBezTo>
                  <a:pt x="347864" y="542717"/>
                  <a:pt x="340508" y="556750"/>
                  <a:pt x="341412" y="571500"/>
                </a:cubicBezTo>
                <a:cubicBezTo>
                  <a:pt x="340508" y="586250"/>
                  <a:pt x="347864" y="600283"/>
                  <a:pt x="360508" y="607932"/>
                </a:cubicBezTo>
                <a:cubicBezTo>
                  <a:pt x="373152" y="615580"/>
                  <a:pt x="388997" y="615580"/>
                  <a:pt x="401641" y="607932"/>
                </a:cubicBezTo>
                <a:cubicBezTo>
                  <a:pt x="414285" y="600283"/>
                  <a:pt x="421641" y="586250"/>
                  <a:pt x="420737" y="571500"/>
                </a:cubicBezTo>
                <a:close/>
              </a:path>
            </a:pathLst>
          </a:custGeom>
          <a:solidFill>
            <a:srgbClr val="275829"/>
          </a:solidFill>
        </p:spPr>
      </p:sp>
      <p:sp>
        <p:nvSpPr>
          <p:cNvPr id="27" name="Text 23"/>
          <p:cNvSpPr/>
          <p:nvPr/>
        </p:nvSpPr>
        <p:spPr>
          <a:xfrm>
            <a:off x="9753600" y="3619500"/>
            <a:ext cx="4064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Missing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9753600" y="4191000"/>
            <a:ext cx="4064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Sensor signal loss, calibration interruption, device drop, wireless transmission failure lead to gaps in time series.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09600" y="71120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275829">
              <a:alpha val="8235"/>
            </a:srgbClr>
          </a:solidFill>
        </p:spPr>
      </p:sp>
      <p:sp>
        <p:nvSpPr>
          <p:cNvPr id="30" name="Text 26"/>
          <p:cNvSpPr/>
          <p:nvPr/>
        </p:nvSpPr>
        <p:spPr>
          <a:xfrm>
            <a:off x="863600" y="72390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 Target: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30-60 minutes ahead | </a:t>
            </a: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Goal:</a:t>
            </a:r>
            <a:r>
              <a:rPr lang="en-US" sz="22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From after-event monitoring to pre-event prediction</a:t>
            </a:r>
            <a:endParaRPr lang="en-US" sz="1600" dirty="0"/>
          </a:p>
        </p:txBody>
      </p:sp>
      <p:grpSp>
        <p:nvGrpSpPr>
          <p:cNvPr id="31" name="组合 30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2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3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7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9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0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1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21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09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Heterogeneous Dataset Fusion and Standardization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Colas Dataset (T2D)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63600" y="31115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Medtronic MiniMed iPro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NGT to prediabetes to T2D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clinical heterogeneity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5562600" y="2476500"/>
            <a:ext cx="4699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5816600" y="2603500"/>
            <a:ext cx="4191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Hall Dataset (Healthy)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5816600" y="3111500"/>
            <a:ext cx="419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Dexcom G4 monitoring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"Glucotypes" concept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Healthy and sub-healthy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515600" y="2476500"/>
            <a:ext cx="5080000" cy="2286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7" name="Text 23"/>
          <p:cNvSpPr/>
          <p:nvPr/>
        </p:nvSpPr>
        <p:spPr>
          <a:xfrm>
            <a:off x="10769600" y="2603500"/>
            <a:ext cx="4572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OhioT1DM Dataset (T1D)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0769600" y="3111500"/>
            <a:ext cx="457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T1D subjects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severe fluctuations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Insulin pump treatment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09600" y="5016500"/>
            <a:ext cx="149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Full Spectrum:</a:t>
            </a:r>
            <a:r>
              <a:rPr lang="en-US" sz="1800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Health → Prediabetes → T2D → T1D | </a:t>
            </a: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174 subjects, 117,570 observations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09600" y="558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Standardization Pipeline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609600" y="6159500"/>
            <a:ext cx="7620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Field alignment: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{id, time, gl, age, bmi}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Unit conversion: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to mg/dL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Linear resampling: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Strict 5-min intervals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Missing data: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≤15 min: Cubic spline interpolation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&gt;15 min: Sequence segmentation (exclude &lt;6h)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8636000" y="5588000"/>
            <a:ext cx="444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2.1 Physiological Parameters</a:t>
            </a:r>
            <a:endParaRPr lang="en-US" sz="1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8636000" y="6159500"/>
          <a:ext cx="6934200" cy="2286000"/>
        </p:xfrm>
        <a:graphic>
          <a:graphicData uri="http://schemas.openxmlformats.org/drawingml/2006/table">
            <a:tbl>
              <a:tblPr/>
              <a:tblGrid>
                <a:gridCol w="2773680"/>
                <a:gridCol w="2426970"/>
                <a:gridCol w="173355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Mean±SD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Range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Age (year)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54.7±13.2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25-88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BMI (kg/m²)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29.1±4.6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18-44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Avg BG (mg/dL)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111.5±38.4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40-350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283337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212217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Filtering Theory and Evaluation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349500"/>
            <a:ext cx="6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3.2 Comparison of Filtering Results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09600" y="2794000"/>
          <a:ext cx="14986000" cy="2540000"/>
        </p:xfrm>
        <a:graphic>
          <a:graphicData uri="http://schemas.openxmlformats.org/drawingml/2006/table">
            <a:tbl>
              <a:tblPr/>
              <a:tblGrid>
                <a:gridCol w="2997200"/>
                <a:gridCol w="2997200"/>
                <a:gridCol w="2997200"/>
                <a:gridCol w="2997200"/>
                <a:gridCol w="2997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Index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Kalman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S-G Filter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Butterworth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Ideal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NRR 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-6.6±3.7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14.0±6.2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18.8±7.1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SNR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7.9±2.0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9.4±2.2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9.9±2.3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High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PPR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1.009±0.005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0.987±0.007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0.972±0.008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≈1.0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Phase Lag (min)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1.7±2.4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609600" y="5588000"/>
            <a:ext cx="381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Analysis &amp; Conclusion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159500"/>
            <a:ext cx="14986000" cy="254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Kalman: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Negative NRR and phase lag - not suitable for prediction input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Butterworth: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Highest noise removal (18.8%) but attenuates peaks (PPR 0.972) - loses 3% per peak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S-G Filter: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Best balance - moderate denoising (14.0%) with excellent peak preservation (PPR 0.987)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Conclusion: S-G selected for preserving local extrema without delay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phase lag ensures strict timeline alignment; third-order polynomial fits glucose smooth curves</a:t>
            </a:r>
            <a:endParaRPr lang="en-US" sz="1600" dirty="0"/>
          </a:p>
        </p:txBody>
      </p:sp>
      <p:grpSp>
        <p:nvGrpSpPr>
          <p:cNvPr id="24" name="组合 23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5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6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7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8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0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2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1049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Comprehensive Performance Comparison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3495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4.1 Nine Models Comparison (30-min horizon)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609600" y="2794000"/>
          <a:ext cx="14986000" cy="4318000"/>
        </p:xfrm>
        <a:graphic>
          <a:graphicData uri="http://schemas.openxmlformats.org/drawingml/2006/table">
            <a:tbl>
              <a:tblPr/>
              <a:tblGrid>
                <a:gridCol w="2697480"/>
                <a:gridCol w="2397760"/>
                <a:gridCol w="2397760"/>
                <a:gridCol w="2397760"/>
                <a:gridCol w="2397760"/>
                <a:gridCol w="269748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Model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MAPE(%)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RMSPE(%)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CEG A+B(%)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ARIMA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5.80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8.96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6.91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Linear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5.23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8.53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4.38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6.83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15.63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9.95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13.63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93.4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Random Forest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6.64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10.28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5.58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8.23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XGBoost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8.22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6.98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10.14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98.1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5.41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8.70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4.55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7.08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RNN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11.03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6.33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8.93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LSTM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5.02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8.19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4.27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6.74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Transformer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6.50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9.14</a:t>
                      </a:r>
                      <a:endParaRPr lang="en-US" sz="1600" u="none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ea typeface="Arial" panose="020B0604020202020204" pitchFamily="34" charset="-122"/>
                        <a:cs typeface="Arial" panose="020B0604020202020204" pitchFamily="34" charset="-12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5.78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8.00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99.6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/>
          <p:nvPr/>
        </p:nvSpPr>
        <p:spPr>
          <a:xfrm>
            <a:off x="609600" y="7366000"/>
            <a:ext cx="14986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LSTM best overall (RMSE 8.19); Transformer close (9.14) with superior architecture for transfer learning; KNN unsuitable (15.63); All except KNN achieve &gt;99% clinical safety</a:t>
            </a:r>
            <a:endParaRPr lang="en-US" sz="1600" dirty="0"/>
          </a:p>
        </p:txBody>
      </p:sp>
      <p:grpSp>
        <p:nvGrpSpPr>
          <p:cNvPr id="23" name="组合 22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4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5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6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27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8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29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3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5087620" y="8890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4465320" y="1054100"/>
            <a:ext cx="14605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Clinical Safety (CEGA) and Waveform Analysis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4_10_ceg_grid.png"/>
          <p:cNvPicPr>
            <a:picLocks noChangeAspect="1"/>
          </p:cNvPicPr>
          <p:nvPr/>
        </p:nvPicPr>
        <p:blipFill>
          <a:blip r:embed="rId4"/>
          <a:srcRect l="-24016" r="-24016"/>
          <a:stretch>
            <a:fillRect/>
          </a:stretch>
        </p:blipFill>
        <p:spPr>
          <a:xfrm>
            <a:off x="609600" y="2476500"/>
            <a:ext cx="7366000" cy="3556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4.10 CEG Clarke Error Grid for all 9 models</a:t>
            </a:r>
            <a:endParaRPr lang="en-US" sz="1600" dirty="0"/>
          </a:p>
        </p:txBody>
      </p:sp>
      <p:pic>
        <p:nvPicPr>
          <p:cNvPr id="22" name="Image 3" descr="https://kimi-img.moonshot.cn/pub/slides/okc/wc2nv4gztwxge/mnt/agents/output/cgm_thesis/images/fig4_11_all_models_s306.png"/>
          <p:cNvPicPr>
            <a:picLocks noChangeAspect="1"/>
          </p:cNvPicPr>
          <p:nvPr/>
        </p:nvPicPr>
        <p:blipFill>
          <a:blip r:embed="rId5"/>
          <a:srcRect l="-7055" r="-7055"/>
          <a:stretch>
            <a:fillRect/>
          </a:stretch>
        </p:blipFill>
        <p:spPr>
          <a:xfrm>
            <a:off x="8382000" y="2476500"/>
            <a:ext cx="7366000" cy="3556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2000" y="6096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4.11 Waveform comparison on Subject 306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9600" y="6604000"/>
            <a:ext cx="14986000" cy="215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CEGA Results: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models except KNN achieve &gt;99% in A+B zones. LSTM, Linear, CNN, ARIMA reach 99.8% Zone A.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Waveform Analysis (Subject 306):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period: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All models similar - historical values provide sufficient info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change: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Traditional models show 5-10 min phase lag; LSTM/Transformer respond acutely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Deep learning extracts second-order dynamics (acceleration, curvature) for trend anticipation</a:t>
            </a:r>
            <a:endParaRPr lang="en-US" sz="1600" dirty="0"/>
          </a:p>
        </p:txBody>
      </p:sp>
      <p:grpSp>
        <p:nvGrpSpPr>
          <p:cNvPr id="37" name="组合 3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4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270750" y="96647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6559550" y="113157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Transfer Learning Strategy: Freeze Encoder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609600" y="2476500"/>
            <a:ext cx="7112000" cy="3111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Strategy: Pre-train → Fine-tune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decoupled into: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learns general glucose dynamics (shared)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</a:t>
            </a: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Regression Head: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maps to individual-specific levels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Freeze encoder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during fine-tuning, update only head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Why? 30% data (~2-3 days) too few to update all parameters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hold-out subjects for verification</a:t>
            </a:r>
            <a:endParaRPr lang="en-US" sz="1600" dirty="0"/>
          </a:p>
        </p:txBody>
      </p:sp>
      <p:pic>
        <p:nvPicPr>
          <p:cNvPr id="21" name="Image 2" descr="https://kimi-img.moonshot.cn/pub/slides/okc/wc2nv4gztwxge/mnt/agents/output/cgm_thesis/images/fig5_1_data_split.png"/>
          <p:cNvPicPr>
            <a:picLocks noChangeAspect="1"/>
          </p:cNvPicPr>
          <p:nvPr/>
        </p:nvPicPr>
        <p:blipFill>
          <a:blip r:embed="rId4"/>
          <a:srcRect t="-16643" b="-16643"/>
          <a:stretch>
            <a:fillRect/>
          </a:stretch>
        </p:blipFill>
        <p:spPr>
          <a:xfrm>
            <a:off x="8128000" y="2476500"/>
            <a:ext cx="7620000" cy="3556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28000" y="6096000"/>
            <a:ext cx="762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5.1 Data split for transfer learning on Subject 306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09600" y="6604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Two-Step Process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09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275829"/>
          </a:solidFill>
        </p:spPr>
      </p:sp>
      <p:sp>
        <p:nvSpPr>
          <p:cNvPr id="25" name="Text 20"/>
          <p:cNvSpPr/>
          <p:nvPr/>
        </p:nvSpPr>
        <p:spPr>
          <a:xfrm>
            <a:off x="609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Pre-train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 on all population data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42926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27" name="Shape 22"/>
          <p:cNvSpPr/>
          <p:nvPr/>
        </p:nvSpPr>
        <p:spPr>
          <a:xfrm>
            <a:off x="5181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61BB45"/>
          </a:solidFill>
        </p:spPr>
      </p:sp>
      <p:sp>
        <p:nvSpPr>
          <p:cNvPr id="28" name="Text 23"/>
          <p:cNvSpPr/>
          <p:nvPr/>
        </p:nvSpPr>
        <p:spPr>
          <a:xfrm>
            <a:off x="5181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Fine-tune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Freeze encoder, update head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8864600" y="7429500"/>
            <a:ext cx="762000" cy="0"/>
          </a:xfrm>
          <a:prstGeom prst="straightConnector1">
            <a:avLst/>
          </a:prstGeom>
          <a:noFill/>
          <a:ln w="25400">
            <a:solidFill>
              <a:srgbClr val="275829"/>
            </a:solidFill>
            <a:prstDash val="solid"/>
            <a:headEnd type="none"/>
            <a:tailEnd type="arrow"/>
          </a:ln>
        </p:spPr>
      </p:sp>
      <p:sp>
        <p:nvSpPr>
          <p:cNvPr id="30" name="Shape 25"/>
          <p:cNvSpPr/>
          <p:nvPr/>
        </p:nvSpPr>
        <p:spPr>
          <a:xfrm>
            <a:off x="9753600" y="7175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275829"/>
          </a:solidFill>
        </p:spPr>
      </p:sp>
      <p:sp>
        <p:nvSpPr>
          <p:cNvPr id="31" name="Text 26"/>
          <p:cNvSpPr/>
          <p:nvPr/>
        </p:nvSpPr>
        <p:spPr>
          <a:xfrm>
            <a:off x="9753600" y="7175500"/>
            <a:ext cx="3556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Personalized Model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Ready for prediction</a:t>
            </a:r>
            <a:endParaRPr lang="en-US" sz="1600" dirty="0"/>
          </a:p>
        </p:txBody>
      </p:sp>
      <p:grpSp>
        <p:nvGrpSpPr>
          <p:cNvPr id="32" name="组合 31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33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34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8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9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0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1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42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43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727075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655955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Transfer Learning Results and Waveform Improvement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5_2_transfer_s124.png"/>
          <p:cNvPicPr>
            <a:picLocks noChangeAspect="1"/>
          </p:cNvPicPr>
          <p:nvPr/>
        </p:nvPicPr>
        <p:blipFill>
          <a:blip r:embed="rId4"/>
          <a:srcRect l="-19578" r="-19578"/>
          <a:stretch>
            <a:fillRect/>
          </a:stretch>
        </p:blipFill>
        <p:spPr>
          <a:xfrm>
            <a:off x="609600" y="2476500"/>
            <a:ext cx="7366000" cy="3302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5842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5.2 Subject 124: RMSE improved 34.08%</a:t>
            </a:r>
            <a:endParaRPr lang="en-US" sz="1600" dirty="0"/>
          </a:p>
        </p:txBody>
      </p:sp>
      <p:pic>
        <p:nvPicPr>
          <p:cNvPr id="22" name="Image 3" descr="https://kimi-img.moonshot.cn/pub/slides/okc/wc2nv4gztwxge/mnt/agents/output/cgm_thesis/images/fig5_3_transfer_s146.png"/>
          <p:cNvPicPr>
            <a:picLocks noChangeAspect="1"/>
          </p:cNvPicPr>
          <p:nvPr/>
        </p:nvPicPr>
        <p:blipFill>
          <a:blip r:embed="rId5"/>
          <a:srcRect l="-19578" r="-19578"/>
          <a:stretch>
            <a:fillRect/>
          </a:stretch>
        </p:blipFill>
        <p:spPr>
          <a:xfrm>
            <a:off x="8382000" y="2476500"/>
            <a:ext cx="7366000" cy="33020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82000" y="5842000"/>
            <a:ext cx="7366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5.3 Subject 146: RMSE improved 30.82%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09600" y="6350000"/>
            <a:ext cx="6985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5.3 Transfer Learning on 10 Subjects (RMSE)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/>
        </p:nvGraphicFramePr>
        <p:xfrm>
          <a:off x="609600" y="6858000"/>
          <a:ext cx="14986000" cy="1778000"/>
        </p:xfrm>
        <a:graphic>
          <a:graphicData uri="http://schemas.openxmlformats.org/drawingml/2006/table">
            <a:tbl>
              <a:tblPr/>
              <a:tblGrid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348740"/>
                <a:gridCol w="14986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ID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71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98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124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146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170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306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Baseline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6.42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8.40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4.91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6.51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4.77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5.59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5.13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4.47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13.59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Improve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+18.9%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+16.6%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+9.2%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+35.5%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+1.4%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+34.1%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+30.8%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+19.6%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+32.3%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+6.6%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6" name="Text 19"/>
          <p:cNvSpPr/>
          <p:nvPr/>
        </p:nvSpPr>
        <p:spPr>
          <a:xfrm>
            <a:off x="609600" y="8763000"/>
            <a:ext cx="14986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Average RMSE reduction across 10 subjects: 20.35%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9"/>
          <p:cNvSpPr/>
          <p:nvPr/>
        </p:nvSpPr>
        <p:spPr>
          <a:xfrm>
            <a:off x="504825" y="5600065"/>
            <a:ext cx="2616835" cy="475615"/>
          </a:xfrm>
          <a:prstGeom prst="roundRect">
            <a:avLst>
              <a:gd name="adj" fmla="val 8000"/>
            </a:avLst>
          </a:prstGeom>
          <a:solidFill>
            <a:schemeClr val="accent6">
              <a:lumMod val="75000"/>
            </a:schemeClr>
          </a:solidFill>
        </p:spPr>
      </p:sp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Clinical Dilemma: Extreme Few-Shot Scenario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14986000" cy="1016000"/>
          </a:xfrm>
          <a:prstGeom prst="roundRect">
            <a:avLst>
              <a:gd name="adj" fmla="val 8000"/>
            </a:avLst>
          </a:prstGeom>
          <a:solidFill>
            <a:srgbClr val="E74C3C">
              <a:alpha val="8235"/>
            </a:srgbClr>
          </a:solidFill>
        </p:spPr>
      </p:sp>
      <p:sp>
        <p:nvSpPr>
          <p:cNvPr id="21" name="Text 17"/>
          <p:cNvSpPr/>
          <p:nvPr/>
        </p:nvSpPr>
        <p:spPr>
          <a:xfrm>
            <a:off x="863600" y="2603500"/>
            <a:ext cx="14478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if only one day data is available? 30-50 samples (~2.5 hours)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09600" y="3810000"/>
            <a:ext cx="7112000" cy="381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transfer learning fails: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Prediction head cannot move far enough from pre-trained weights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Standard pre-training optimizes average loss across all subjects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Not close to best weights for any one person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Meta-learning solution: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Instead of optimizing for average fit, optimize initialization for rapid adaptation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 parameter point where a few gradient steps produce large error drop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128000" y="3810000"/>
            <a:ext cx="7493000" cy="3810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4" name="Text 20"/>
          <p:cNvSpPr/>
          <p:nvPr/>
        </p:nvSpPr>
        <p:spPr>
          <a:xfrm>
            <a:off x="8382000" y="4000500"/>
            <a:ext cx="6985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 Key Difference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382000" y="4508500"/>
            <a:ext cx="6985000" cy="292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Pre-training: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Minimize average loss: θ* = argmin ΣL(f_θ, D_i)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FOMAML: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Optimize for fast adaptation: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θ* = argmin ΣL(f_θ', D_i^query)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θ' = θ - α∇L(f_θ, D_i^support)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Outer objective evaluates performance AFTER adaptation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09600" y="7937500"/>
            <a:ext cx="149860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First-Order approximation eliminates Hessian computation - suitable for resource-limited devices</a:t>
            </a:r>
            <a:endParaRPr lang="en-US" sz="1600" dirty="0"/>
          </a:p>
        </p:txBody>
      </p:sp>
      <p:grpSp>
        <p:nvGrpSpPr>
          <p:cNvPr id="27" name="组合 26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8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9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0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1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2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3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4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5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6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7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8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Learning Curves: Basic vs Meta Transfer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2_learning_curve.png"/>
          <p:cNvPicPr>
            <a:picLocks noChangeAspect="1"/>
          </p:cNvPicPr>
          <p:nvPr/>
        </p:nvPicPr>
        <p:blipFill>
          <a:blip r:embed="rId4"/>
          <a:srcRect l="-6680" r="-6680"/>
          <a:stretch>
            <a:fillRect/>
          </a:stretch>
        </p:blipFill>
        <p:spPr>
          <a:xfrm>
            <a:off x="609600" y="2476500"/>
            <a:ext cx="8890000" cy="5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7620000"/>
            <a:ext cx="889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6.2 Learning curve: Basic Transfer vs Meta Transfer (Subject 124)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906000" y="2476500"/>
            <a:ext cx="558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906000" y="3048000"/>
            <a:ext cx="5588000" cy="3429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&lt; 100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 reduced by </a:t>
            </a: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25.67%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on average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&lt; 40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MAE dropped by </a:t>
            </a:r>
            <a:r>
              <a:rPr lang="en-US" sz="1600" b="1" dirty="0">
                <a:solidFill>
                  <a:srgbClr val="E74C3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31.58%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 &gt; 150 samples: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methods converge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 of meta-learning specifically in low-sample regime where starting point matters most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9906000" y="6477000"/>
            <a:ext cx="5588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Table 6.2 N=30 Comparison</a:t>
            </a:r>
            <a:endParaRPr lang="en-US" sz="1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/>
        </p:nvGraphicFramePr>
        <p:xfrm>
          <a:off x="9906000" y="6921500"/>
          <a:ext cx="5588000" cy="139700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99920"/>
              </a:tblGrid>
              <a:tr h="41532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Metric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Basic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Meta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BB45">
                        <a:alpha val="45882"/>
                      </a:srgbClr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5.94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5.38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002C1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RMSE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62626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6.49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74C3C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6.21</a:t>
                      </a:r>
                      <a:endParaRPr lang="en-US" sz="16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2C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6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7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9525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8813800" y="1104900"/>
            <a:ext cx="16383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Few-Shot Waveform Consistency Analysis (N=30)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pic>
        <p:nvPicPr>
          <p:cNvPr id="20" name="Image 2" descr="https://kimi-img.moonshot.cn/pub/slides/okc/wc2nv4gztwxge/mnt/agents/output/cgm_thesis/images/fig6_3_meta_vs_basic_s124.png"/>
          <p:cNvPicPr>
            <a:picLocks noChangeAspect="1"/>
          </p:cNvPicPr>
          <p:nvPr/>
        </p:nvPicPr>
        <p:blipFill>
          <a:blip r:embed="rId4"/>
          <a:srcRect l="-5882" r="-5882"/>
          <a:stretch>
            <a:fillRect/>
          </a:stretch>
        </p:blipFill>
        <p:spPr>
          <a:xfrm>
            <a:off x="609600" y="2476500"/>
            <a:ext cx="10160000" cy="50800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9600" y="7620000"/>
            <a:ext cx="10160000" cy="317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Figure 6.3 Prediction comparison on Subject 124 with only 30 samples (~2.5 hours)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176000" y="2476500"/>
            <a:ext cx="4318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Detailed Observations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1176000" y="3048000"/>
            <a:ext cx="4318000" cy="406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Rapid rise (post-meal):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tracks peak accurately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Basic Transfer shows overshoot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Change points: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responds faster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Significantly reduced phase lag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Stable phase: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Similar average performance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Meta Transfer has smaller variance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Transfer: lower error + more stable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09600" y="8128000"/>
            <a:ext cx="14986000" cy="635000"/>
          </a:xfrm>
          <a:prstGeom prst="roundRect">
            <a:avLst>
              <a:gd name="adj" fmla="val 8000"/>
            </a:avLst>
          </a:prstGeom>
          <a:solidFill>
            <a:srgbClr val="275829">
              <a:alpha val="6275"/>
            </a:srgbClr>
          </a:solidFill>
        </p:spPr>
      </p:sp>
      <p:sp>
        <p:nvSpPr>
          <p:cNvPr id="25" name="Text 20"/>
          <p:cNvSpPr/>
          <p:nvPr/>
        </p:nvSpPr>
        <p:spPr>
          <a:xfrm>
            <a:off x="863600" y="8255000"/>
            <a:ext cx="14478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 Transfer not only reduces average error but also reduces error fluctuation</a:t>
            </a:r>
            <a:endParaRPr lang="en-US" sz="1600" dirty="0"/>
          </a:p>
        </p:txBody>
      </p:sp>
      <p:grpSp>
        <p:nvGrpSpPr>
          <p:cNvPr id="26" name="组合 25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27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28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29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0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1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32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3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4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5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36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37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1557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" name="Shape 1"/>
          <p:cNvSpPr/>
          <p:nvPr/>
        </p:nvSpPr>
        <p:spPr>
          <a:xfrm>
            <a:off x="11811000" y="939800"/>
            <a:ext cx="215900" cy="165100"/>
          </a:xfrm>
          <a:prstGeom prst="triangle">
            <a:avLst>
              <a:gd name="adj" fmla="val 50000"/>
            </a:avLst>
          </a:prstGeom>
          <a:solidFill>
            <a:srgbClr val="FFFFFF"/>
          </a:solidFill>
        </p:spPr>
      </p:sp>
      <p:sp>
        <p:nvSpPr>
          <p:cNvPr id="4" name="Shape 2"/>
          <p:cNvSpPr/>
          <p:nvPr/>
        </p:nvSpPr>
        <p:spPr>
          <a:xfrm>
            <a:off x="11099800" y="1104900"/>
            <a:ext cx="1524000" cy="101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16" name="Image 0" descr="https://kimi-img.moonshot.cn/pub/slides/okc/wc2nv4gztwxge/mnt/agents/output/template_convert/images/image_5.sv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57100" y="228600"/>
            <a:ext cx="3632200" cy="698500"/>
          </a:xfrm>
          <a:prstGeom prst="rect">
            <a:avLst/>
          </a:prstGeom>
        </p:spPr>
      </p:pic>
      <p:pic>
        <p:nvPicPr>
          <p:cNvPr id="17" name="Image 1" descr="https://kimi-img.moonshot.cn/pub/slides/okc/wc2nv4gztwxge/mnt/agents/output/template_convert/images/image_2.png"/>
          <p:cNvPicPr>
            <a:picLocks noChangeAspect="1"/>
          </p:cNvPicPr>
          <p:nvPr/>
        </p:nvPicPr>
        <p:blipFill>
          <a:blip r:embed="rId3"/>
          <a:srcRect r="87360"/>
          <a:stretch>
            <a:fillRect/>
          </a:stretch>
        </p:blipFill>
        <p:spPr>
          <a:xfrm>
            <a:off x="12331700" y="228600"/>
            <a:ext cx="673100" cy="711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1397000"/>
            <a:ext cx="1524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275829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rPr>
              <a:t>Core Scientific Contributions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09600" y="2159000"/>
            <a:ext cx="14986000" cy="0"/>
          </a:xfrm>
          <a:prstGeom prst="line">
            <a:avLst/>
          </a:prstGeom>
          <a:noFill/>
          <a:ln w="15875">
            <a:solidFill>
              <a:srgbClr val="275829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609600" y="247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63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2" name="Text 18"/>
          <p:cNvSpPr/>
          <p:nvPr/>
        </p:nvSpPr>
        <p:spPr>
          <a:xfrm>
            <a:off x="863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651000" y="2667000"/>
            <a:ext cx="342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CGM-Only Dataset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863600" y="3492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Uses CGM sequence + age/BMI only; no meal, insulin, or exercise logs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Fuses 174 subjects from Colas, Hall, and OhioT1DM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Standardizes units, 5-min sampling, missing data, and S-G filtering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5562600" y="2476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6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27" name="Text 23"/>
          <p:cNvSpPr/>
          <p:nvPr/>
        </p:nvSpPr>
        <p:spPr>
          <a:xfrm>
            <a:off x="5816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6604000" y="2667000"/>
            <a:ext cx="3429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Preprocess/Model Study Pipeline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5816600" y="3492500"/>
            <a:ext cx="4191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Quantifies CGM noise and compares Kalman, S-G, and Butterworth filters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Benchmarks 9 models under the same 30-min prediction setting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Selects Transformer as the personalization-ready base model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10515600" y="2476500"/>
            <a:ext cx="5080000" cy="33020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25400">
            <a:solidFill>
              <a:srgbClr val="27582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10769600" y="2667000"/>
            <a:ext cx="635000" cy="635000"/>
          </a:xfrm>
          <a:prstGeom prst="rect">
            <a:avLst/>
          </a:prstGeom>
          <a:solidFill>
            <a:srgbClr val="275829"/>
          </a:solidFill>
        </p:spPr>
      </p:sp>
      <p:sp>
        <p:nvSpPr>
          <p:cNvPr id="32" name="Text 28"/>
          <p:cNvSpPr/>
          <p:nvPr/>
        </p:nvSpPr>
        <p:spPr>
          <a:xfrm>
            <a:off x="10769600" y="2667000"/>
            <a:ext cx="635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1557000" y="2667000"/>
            <a:ext cx="381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 Personalization(meta</a:t>
            </a:r>
            <a:endParaRPr lang="en-US" sz="1800" b="1" dirty="0">
              <a:solidFill>
                <a:srgbClr val="275829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learning based on transformer)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769600" y="3492500"/>
            <a:ext cx="4572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Frozen-encoder transfer learning reduces RMSE by 20.35%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FOMAML improves N&lt;40 adaptation by 31.58% MAE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Enables day-one personalization from 30-50 CGM samples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09600" y="6223000"/>
            <a:ext cx="5080000" cy="4445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Engineering Value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609600" y="6794500"/>
            <a:ext cx="14986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"Cloud pre-training + local fine-tuning"</a:t>
            </a: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architecture: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Cloud: Train general model on population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Device: Download pre-trained model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Local: Fine-tune with user's first 2.5 hours of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7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• Result: Personalized predictions from day one, no data uploaded to cloud</a:t>
            </a:r>
            <a:endParaRPr lang="en-US" sz="1600" dirty="0"/>
          </a:p>
        </p:txBody>
      </p:sp>
      <p:grpSp>
        <p:nvGrpSpPr>
          <p:cNvPr id="61" name="组合 60"/>
          <p:cNvGrpSpPr/>
          <p:nvPr/>
        </p:nvGrpSpPr>
        <p:grpSpPr>
          <a:xfrm>
            <a:off x="0" y="317500"/>
            <a:ext cx="12098020" cy="508000"/>
            <a:chOff x="0" y="500"/>
            <a:chExt cx="19052" cy="800"/>
          </a:xfrm>
        </p:grpSpPr>
        <p:sp>
          <p:nvSpPr>
            <p:cNvPr id="62" name="Text 3"/>
            <p:cNvSpPr/>
            <p:nvPr/>
          </p:nvSpPr>
          <p:spPr>
            <a:xfrm>
              <a:off x="0" y="520"/>
              <a:ext cx="258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Background</a:t>
              </a:r>
              <a:endParaRPr lang="en-US" sz="2000" dirty="0"/>
            </a:p>
          </p:txBody>
        </p:sp>
        <p:sp>
          <p:nvSpPr>
            <p:cNvPr id="63" name="Shape 4"/>
            <p:cNvSpPr/>
            <p:nvPr/>
          </p:nvSpPr>
          <p:spPr>
            <a:xfrm>
              <a:off x="27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4" name="Text 5"/>
            <p:cNvSpPr/>
            <p:nvPr/>
          </p:nvSpPr>
          <p:spPr>
            <a:xfrm>
              <a:off x="2432" y="520"/>
              <a:ext cx="44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uFill>
                    <a:solidFill>
                      <a:srgbClr val="000000"/>
                    </a:solidFill>
                  </a:u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Data Processing</a:t>
              </a:r>
              <a:endParaRPr lang="en-US" sz="2000" dirty="0">
                <a:solidFill>
                  <a:srgbClr val="FFFFFF"/>
                </a:solidFill>
                <a:uFill>
                  <a:solidFill>
                    <a:srgbClr val="000000"/>
                  </a:solidFill>
                </a:u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65" name="Shape 6"/>
            <p:cNvSpPr/>
            <p:nvPr/>
          </p:nvSpPr>
          <p:spPr>
            <a:xfrm>
              <a:off x="6508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6" name="Text 7"/>
            <p:cNvSpPr/>
            <p:nvPr/>
          </p:nvSpPr>
          <p:spPr>
            <a:xfrm>
              <a:off x="6832" y="500"/>
              <a:ext cx="27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General Models</a:t>
              </a:r>
              <a:endParaRPr lang="en-US" sz="2000" dirty="0"/>
            </a:p>
          </p:txBody>
        </p:sp>
        <p:sp>
          <p:nvSpPr>
            <p:cNvPr id="67" name="Shape 8"/>
            <p:cNvSpPr/>
            <p:nvPr/>
          </p:nvSpPr>
          <p:spPr>
            <a:xfrm>
              <a:off x="98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68" name="Text 9"/>
            <p:cNvSpPr/>
            <p:nvPr/>
          </p:nvSpPr>
          <p:spPr>
            <a:xfrm>
              <a:off x="10220" y="500"/>
              <a:ext cx="28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Transfer Learning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69" name="Shape 10"/>
            <p:cNvSpPr/>
            <p:nvPr/>
          </p:nvSpPr>
          <p:spPr>
            <a:xfrm>
              <a:off x="13514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0" name="Text 11"/>
            <p:cNvSpPr/>
            <p:nvPr/>
          </p:nvSpPr>
          <p:spPr>
            <a:xfrm>
              <a:off x="13364" y="500"/>
              <a:ext cx="40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Meta-Transfer</a:t>
              </a:r>
              <a:endParaRPr lang="en-US" sz="2000" dirty="0">
                <a:solidFill>
                  <a:srgbClr val="FFFFFF"/>
                </a:solidFill>
                <a:latin typeface="Calibri, MiSans" pitchFamily="34" charset="0"/>
                <a:ea typeface="Calibri, MiSans" pitchFamily="34" charset="-122"/>
                <a:cs typeface="Calibri, MiSans" pitchFamily="34" charset="-120"/>
              </a:endParaRPr>
            </a:p>
          </p:txBody>
        </p:sp>
        <p:sp>
          <p:nvSpPr>
            <p:cNvPr id="71" name="Shape 12"/>
            <p:cNvSpPr/>
            <p:nvPr/>
          </p:nvSpPr>
          <p:spPr>
            <a:xfrm>
              <a:off x="16976" y="520"/>
              <a:ext cx="0" cy="620"/>
            </a:xfrm>
            <a:prstGeom prst="line">
              <a:avLst/>
            </a:prstGeom>
            <a:noFill/>
            <a:ln w="12700">
              <a:solidFill>
                <a:srgbClr val="FFFFFF"/>
              </a:solidFill>
              <a:prstDash val="solid"/>
              <a:headEnd type="none"/>
              <a:tailEnd type="none"/>
            </a:ln>
          </p:spPr>
        </p:sp>
        <p:sp>
          <p:nvSpPr>
            <p:cNvPr id="72" name="Text 13"/>
            <p:cNvSpPr/>
            <p:nvPr/>
          </p:nvSpPr>
          <p:spPr>
            <a:xfrm>
              <a:off x="17152" y="500"/>
              <a:ext cx="1900" cy="780"/>
            </a:xfrm>
            <a:prstGeom prst="rect">
              <a:avLst/>
            </a:prstGeom>
            <a:noFill/>
          </p:spPr>
          <p:txBody>
            <a:bodyPr wrap="none" lIns="0" tIns="0" rIns="0" bIns="0" rtlCol="0" anchor="t"/>
            <a:lstStyle/>
            <a:p>
              <a:pPr algn="ctr">
                <a:lnSpc>
                  <a:spcPct val="100000"/>
                </a:lnSpc>
              </a:pPr>
              <a:r>
                <a:rPr lang="en-US" sz="2000" dirty="0">
                  <a:solidFill>
                    <a:srgbClr val="FFFFFF"/>
                  </a:solidFill>
                  <a:latin typeface="Calibri, MiSans" pitchFamily="34" charset="0"/>
                  <a:ea typeface="Calibri, MiSans" pitchFamily="34" charset="-122"/>
                  <a:cs typeface="Calibri, MiSans" pitchFamily="34" charset="-120"/>
                </a:rPr>
                <a:t>Conclusion</a:t>
              </a:r>
              <a:endParaRPr lang="en-US" sz="2000" dirty="0"/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366000" y="2540000"/>
            <a:ext cx="8128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27582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66000" y="3683000"/>
            <a:ext cx="1524000" cy="50800"/>
          </a:xfrm>
          <a:prstGeom prst="rect">
            <a:avLst/>
          </a:prstGeom>
          <a:solidFill>
            <a:srgbClr val="61BB45"/>
          </a:solidFill>
        </p:spPr>
      </p:sp>
      <p:sp>
        <p:nvSpPr>
          <p:cNvPr id="6" name="Text 3"/>
          <p:cNvSpPr/>
          <p:nvPr/>
        </p:nvSpPr>
        <p:spPr>
          <a:xfrm>
            <a:off x="7366000" y="3937000"/>
            <a:ext cx="8128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7F7F7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Questions &amp; Answers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66000" y="5080000"/>
            <a:ext cx="812800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Jiang Yijun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Department of Electrical and Computer Engineering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University of Hong Kong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Supervisor: Prof. Shiming Zhang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June 2026</a:t>
            </a:r>
            <a:endParaRPr lang="en-US" sz="1600" dirty="0"/>
          </a:p>
        </p:txBody>
      </p:sp>
      <p:pic>
        <p:nvPicPr>
          <p:cNvPr id="8" name="Image 1" descr="https://kimi-img.moonshot.cn/pub/slides/okc/wc2nv4gztwxge/mnt/agents/output/template_convert/images/image_3.png"/>
          <p:cNvPicPr>
            <a:picLocks noChangeAspect="1"/>
          </p:cNvPicPr>
          <p:nvPr/>
        </p:nvPicPr>
        <p:blipFill>
          <a:blip r:embed="rId1"/>
          <a:srcRect l="-6227" r="-6227"/>
          <a:stretch>
            <a:fillRect/>
          </a:stretch>
        </p:blipFill>
        <p:spPr>
          <a:xfrm>
            <a:off x="7366000" y="7366000"/>
            <a:ext cx="3556000" cy="635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alphaModFix amt="20000"/>
          </a:blip>
          <a:srcRect l="8072" r="82261" b="25125"/>
          <a:stretch>
            <a:fillRect/>
          </a:stretch>
        </p:blipFill>
        <p:spPr>
          <a:xfrm>
            <a:off x="0" y="635"/>
            <a:ext cx="6118225" cy="9143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8654</Words>
  <Application>WPS 演示</Application>
  <PresentationFormat>On-screen Show (16:9)</PresentationFormat>
  <Paragraphs>660</Paragraphs>
  <Slides>14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Arial</vt:lpstr>
      <vt:lpstr>Arial</vt:lpstr>
      <vt:lpstr>Calibri, MiSans</vt:lpstr>
      <vt:lpstr>MiSans</vt:lpstr>
      <vt:lpstr>Calibri, MiSans</vt:lpstr>
      <vt:lpstr>Calibri, MiSans</vt:lpstr>
      <vt:lpstr>Calibri</vt:lpstr>
      <vt:lpstr>微软雅黑</vt:lpstr>
      <vt:lpstr>Arial Unicode MS</vt:lpstr>
      <vt:lpstr>等线</vt:lpstr>
      <vt:lpstr>Cambria Math</vt:lpstr>
      <vt:lpstr>MS PGothic</vt:lpstr>
      <vt:lpstr>MiSans Normal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Glucose Prediction Model Applicable to Continuous Glucose Monitoring Systems</dc:title>
  <dc:creator>Kimi</dc:creator>
  <dc:subject>Blood Glucose Prediction Model Applicable to Continuous Glucose Monitoring Systems</dc:subject>
  <cp:lastModifiedBy>Jungle</cp:lastModifiedBy>
  <cp:revision>11</cp:revision>
  <dcterms:created xsi:type="dcterms:W3CDTF">2026-05-03T04:50:00Z</dcterms:created>
  <dcterms:modified xsi:type="dcterms:W3CDTF">2026-07-06T15:17:55Z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{"Label":"Blood Glucose Prediction Model Applicable to Continuous Glucose Monitoring Systems","ContentProducer":"001191110108MACG2KBH8F10000","ProduceID":"19dea081-4ff2-8481-8000-000032ce69d1","ReservedCode1":"","ContentPropagator":"001191110108MACG2KBH8F20000","PropagateID":"19dea081-4ff2-8481-8000-000032ce69d1","ReservedCode2":""}</vt:lpwstr>
  </property>
  <property fmtid="{D5CDD505-2E9C-101B-9397-08002B2CF9AE}" pid="3" name="ICV">
    <vt:lpwstr>2193B024AFA24B6F918A72096356DA87_12</vt:lpwstr>
  </property>
  <property fmtid="{D5CDD505-2E9C-101B-9397-08002B2CF9AE}" pid="4" name="KSOProductBuildVer">
    <vt:lpwstr>2052-12.1.0.26895</vt:lpwstr>
  </property>
</Properties>
</file>